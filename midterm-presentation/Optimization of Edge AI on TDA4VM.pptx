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10.fntdata" ContentType="application/x-fontdata"/>
  <Override PartName="/ppt/fonts/font11.fntdata" ContentType="application/x-fontdata"/>
  <Override PartName="/ppt/fonts/font12.fntdata" ContentType="application/x-fontdata"/>
  <Override PartName="/ppt/fonts/font13.fntdata" ContentType="application/x-fontdata"/>
  <Override PartName="/ppt/fonts/font14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2192000" cy="6858000"/>
  <p:notesSz cx="6858000" cy="9144000"/>
  <p:embeddedFontLst>
    <p:embeddedFont>
      <p:font typeface="Calibri" panose="020F0502020204030204"/>
      <p:regular r:id="rId22"/>
      <p:bold r:id="rId23"/>
      <p:italic r:id="rId24"/>
      <p:boldItalic r:id="rId25"/>
    </p:embeddedFont>
    <p:embeddedFont>
      <p:font typeface="Inter SemiBold" panose="02000503000000020004"/>
      <p:regular r:id="rId26"/>
      <p:bold r:id="rId27"/>
      <p:italic r:id="rId28"/>
    </p:embeddedFont>
    <p:embeddedFont>
      <p:font typeface="Inter" panose="02000503000000020004"/>
      <p:regular r:id="rId29"/>
      <p:bold r:id="rId30"/>
      <p:italic r:id="rId31"/>
    </p:embeddedFont>
    <p:embeddedFont>
      <p:font typeface="JetBrains Mono" panose="02000009000000000000"/>
      <p:regular r:id="rId32"/>
      <p:bold r:id="rId33"/>
      <p:italic r:id="rId34"/>
      <p:boldItalic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000000"/>
          </p15:clr>
        </p15:guide>
        <p15:guide id="2" pos="2880" userDrawn="1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B51A9A8-51AB-4993-90A6-B98231175B78}" styleName="Table_0">
    <a:wholeTbl>
      <a:tcTxStyle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Style>
        <a:tcBdr/>
        <a:fill>
          <a:solidFill>
            <a:srgbClr val="CFD7E7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FD7E7"/>
          </a:solidFill>
        </a:fill>
      </a:tcStyle>
    </a:band1V>
    <a:band2V>
      <a:tcStyle>
        <a:tcBdr/>
      </a:tcStyle>
    </a:band2V>
    <a:lastCol>
      <a:tcTxStyle b="on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2160"/>
        <p:guide pos="288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5" Type="http://schemas.openxmlformats.org/officeDocument/2006/relationships/font" Target="fonts/font14.fntdata"/><Relationship Id="rId34" Type="http://schemas.openxmlformats.org/officeDocument/2006/relationships/font" Target="fonts/font13.fntdata"/><Relationship Id="rId33" Type="http://schemas.openxmlformats.org/officeDocument/2006/relationships/font" Target="fonts/font12.fntdata"/><Relationship Id="rId32" Type="http://schemas.openxmlformats.org/officeDocument/2006/relationships/font" Target="fonts/font11.fntdata"/><Relationship Id="rId31" Type="http://schemas.openxmlformats.org/officeDocument/2006/relationships/font" Target="fonts/font10.fntdata"/><Relationship Id="rId30" Type="http://schemas.openxmlformats.org/officeDocument/2006/relationships/font" Target="fonts/font9.fntdata"/><Relationship Id="rId3" Type="http://schemas.openxmlformats.org/officeDocument/2006/relationships/slide" Target="slides/slide1.xml"/><Relationship Id="rId29" Type="http://schemas.openxmlformats.org/officeDocument/2006/relationships/font" Target="fonts/font8.fntdata"/><Relationship Id="rId28" Type="http://schemas.openxmlformats.org/officeDocument/2006/relationships/font" Target="fonts/font7.fntdata"/><Relationship Id="rId27" Type="http://schemas.openxmlformats.org/officeDocument/2006/relationships/font" Target="fonts/font6.fntdata"/><Relationship Id="rId26" Type="http://schemas.openxmlformats.org/officeDocument/2006/relationships/font" Target="fonts/font5.fntdata"/><Relationship Id="rId25" Type="http://schemas.openxmlformats.org/officeDocument/2006/relationships/font" Target="fonts/font4.fntdata"/><Relationship Id="rId24" Type="http://schemas.openxmlformats.org/officeDocument/2006/relationships/font" Target="fonts/font3.fntdata"/><Relationship Id="rId23" Type="http://schemas.openxmlformats.org/officeDocument/2006/relationships/font" Target="fonts/font2.fntdata"/><Relationship Id="rId22" Type="http://schemas.openxmlformats.org/officeDocument/2006/relationships/font" Target="fonts/font1.fntdata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2" name="Google Shape;82;p1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1" name="Google Shape;91;p2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d632de25db_0_209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9" name="Google Shape;99;g3d632de25db_0_209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d632de25db_0_23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7" name="Google Shape;117;g3d632de25db_0_230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632de25db_0_25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5" name="Google Shape;135;g3d632de25db_0_253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3" name="Google Shape;153;p4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5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2" name="Google Shape;172;p5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4" name="Google Shape;194;p6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7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1" name="Google Shape;211;p7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8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0" name="Google Shape;230;p8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9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2" name="Google Shape;242;p9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1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80" name="Google Shape;280;p10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1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0" name="Google Shape;300;p11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1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9" name="Google Shape;309;p12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1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8" name="Google Shape;318;p13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itle and Content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 panose="020F0502020204030204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Two Content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Comparison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3" name="Google Shape;43;p7"/>
          <p:cNvSpPr txBox="1"/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5" name="Google Shape;45;p7"/>
          <p:cNvSpPr txBox="1"/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Content with Caption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 panose="020F0502020204030204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Picture with Caption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 panose="020F0502020204030204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Title and Vertical Text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Vertical Title and Text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 sz="4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 panose="020B0604020202020204"/>
              <a:buChar char="•"/>
              <a:defRPr sz="3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–"/>
              <a:defRPr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–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»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4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6.xml"/><Relationship Id="rId8" Type="http://schemas.openxmlformats.org/officeDocument/2006/relationships/slideLayout" Target="../slideLayouts/slideLayout1.xml"/><Relationship Id="rId7" Type="http://schemas.openxmlformats.org/officeDocument/2006/relationships/image" Target="../media/image9.png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7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9.xml"/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0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3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0.png"/><Relationship Id="rId1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5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23.png"/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581025" y="1625054"/>
            <a:ext cx="1102995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10B981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rPr>
              <a:t>GRADUATE RESEARCH PRESENTATION</a:t>
            </a:r>
            <a:endParaRPr lang="en-US" sz="1800" b="0" i="0" u="none" strike="noStrike" cap="none">
              <a:solidFill>
                <a:srgbClr val="10B981"/>
              </a:solidFill>
              <a:latin typeface="Inter SemiBold" panose="02000503000000020004"/>
              <a:ea typeface="Inter SemiBold" panose="02000503000000020004"/>
              <a:cs typeface="Inter SemiBold" panose="02000503000000020004"/>
              <a:sym typeface="Inter SemiBold" panose="02000503000000020004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305276" y="2158454"/>
            <a:ext cx="11581447" cy="1340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rgbClr val="F8FAFC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Optimization of a Heterogeneous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4800" b="1" i="0" u="none" strike="noStrike" cap="none">
                <a:solidFill>
                  <a:srgbClr val="F8FAFC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Edge AI Inference Pipeline</a:t>
            </a:r>
            <a:endParaRPr lang="en-US" sz="4800" b="1" i="0" u="none" strike="noStrike" cap="none">
              <a:solidFill>
                <a:srgbClr val="F8FAFC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581025" y="3975645"/>
            <a:ext cx="110301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0B981"/>
                </a:solidFill>
                <a:latin typeface="JetBrains Mono" panose="02000009000000000000"/>
                <a:ea typeface="JetBrains Mono" panose="02000009000000000000"/>
                <a:cs typeface="JetBrains Mono" panose="02000009000000000000"/>
                <a:sym typeface="JetBrains Mono" panose="02000009000000000000"/>
              </a:rPr>
              <a:t>TDA4VM SoC | C7x DSP | Quantization</a:t>
            </a:r>
            <a:endParaRPr lang="en-US" sz="1500" b="0" i="0" u="none" strike="noStrike" cap="none">
              <a:solidFill>
                <a:srgbClr val="10B981"/>
              </a:solidFill>
              <a:latin typeface="JetBrains Mono" panose="02000009000000000000"/>
              <a:ea typeface="JetBrains Mono" panose="02000009000000000000"/>
              <a:cs typeface="JetBrains Mono" panose="02000009000000000000"/>
              <a:sym typeface="JetBrains Mono" panose="02000009000000000000"/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581025" y="4832895"/>
            <a:ext cx="1102995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64748B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Emre Doğan &amp; Yavuz Selim Kızıltaş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350" b="0" i="0" u="none" strike="noStrike" cap="none">
                <a:solidFill>
                  <a:srgbClr val="64748B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Istanbul Technical University | Hacettepe University</a:t>
            </a:r>
            <a:endParaRPr lang="en-US" sz="1350" b="0" i="0" u="none" strike="noStrike" cap="none">
              <a:solidFill>
                <a:srgbClr val="64748B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4"/>
          <p:cNvSpPr/>
          <p:nvPr/>
        </p:nvSpPr>
        <p:spPr>
          <a:xfrm>
            <a:off x="5381625" y="2190750"/>
            <a:ext cx="1428750" cy="5715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" name="Google Shape;95;p14"/>
          <p:cNvSpPr txBox="1"/>
          <p:nvPr/>
        </p:nvSpPr>
        <p:spPr>
          <a:xfrm>
            <a:off x="305276" y="2533650"/>
            <a:ext cx="11581447" cy="1847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F8FAFC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I. INTRODUCTION &amp; PROBLEM</a:t>
            </a:r>
            <a:endParaRPr lang="en-US" sz="6000" b="1" i="0" u="none" strike="noStrike" cap="none">
              <a:solidFill>
                <a:srgbClr val="F8FAFC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96" name="Google Shape;96;p14"/>
          <p:cNvSpPr txBox="1"/>
          <p:nvPr/>
        </p:nvSpPr>
        <p:spPr>
          <a:xfrm>
            <a:off x="2286000" y="4381500"/>
            <a:ext cx="7620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Deploying real-time vision on low-power hardware requires deep optimization beyond simple model conversion.</a:t>
            </a:r>
            <a:endParaRPr lang="en-US" sz="1500" b="0" i="0" u="none" strike="noStrike" cap="none">
              <a:solidFill>
                <a:srgbClr val="94A3B8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15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5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6334125" y="1171750"/>
            <a:ext cx="4953825" cy="547165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5"/>
          <p:cNvSpPr txBox="1"/>
          <p:nvPr/>
        </p:nvSpPr>
        <p:spPr>
          <a:xfrm>
            <a:off x="581025" y="1339500"/>
            <a:ext cx="56202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The TDA4VM integrates specialized processing cores </a:t>
            </a:r>
            <a:r>
              <a:rPr lang="en-US" sz="1500">
                <a:solidFill>
                  <a:srgbClr val="94A3B8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:</a:t>
            </a:r>
            <a:endParaRPr lang="en-US" sz="1500">
              <a:solidFill>
                <a:srgbClr val="94A3B8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04" name="Google Shape;104;p15"/>
          <p:cNvSpPr txBox="1"/>
          <p:nvPr/>
        </p:nvSpPr>
        <p:spPr>
          <a:xfrm>
            <a:off x="819150" y="1862262"/>
            <a:ext cx="5038800" cy="10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8625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CBD5E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ARM Cortex-A72:</a:t>
            </a:r>
            <a:r>
              <a:rPr lang="en-US" sz="1800" b="0" i="0" u="none" strike="noStrike" cap="none">
                <a:solidFill>
                  <a:srgbClr val="CBD5E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Dual-core </a:t>
            </a:r>
            <a:r>
              <a:rPr lang="en-US" sz="1800">
                <a:solidFill>
                  <a:srgbClr val="CBD5E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64-bit Arm Cortex-A72 microprocessor subsystem at up to 2.0GHz</a:t>
            </a:r>
            <a:endParaRPr sz="1700"/>
          </a:p>
        </p:txBody>
      </p:sp>
      <p:sp>
        <p:nvSpPr>
          <p:cNvPr id="105" name="Google Shape;105;p15"/>
          <p:cNvSpPr txBox="1"/>
          <p:nvPr/>
        </p:nvSpPr>
        <p:spPr>
          <a:xfrm>
            <a:off x="819150" y="4092100"/>
            <a:ext cx="5038800" cy="6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8625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CBD5E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C7x DSP:</a:t>
            </a:r>
            <a:r>
              <a:rPr lang="en-US" sz="1800" b="0" i="0" u="none" strike="noStrike" cap="none">
                <a:solidFill>
                  <a:srgbClr val="CBD5E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en-US" sz="1800">
                <a:solidFill>
                  <a:srgbClr val="CBD5E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floating point, vector DSP, up to 1.0GHz, 80 GFLOPS, 256 GOPS</a:t>
            </a:r>
            <a:endParaRPr sz="1700"/>
          </a:p>
        </p:txBody>
      </p:sp>
      <p:sp>
        <p:nvSpPr>
          <p:cNvPr id="106" name="Google Shape;106;p15"/>
          <p:cNvSpPr txBox="1"/>
          <p:nvPr/>
        </p:nvSpPr>
        <p:spPr>
          <a:xfrm>
            <a:off x="819150" y="5043700"/>
            <a:ext cx="5038800" cy="6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8625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CBD5E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C66x DSP:</a:t>
            </a:r>
            <a:r>
              <a:rPr lang="en-US" sz="1800">
                <a:solidFill>
                  <a:srgbClr val="CBD5E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Two C66x floating point DSP, up to 1.35GHz, 40GFLOPS, 160GOPS</a:t>
            </a:r>
            <a:endParaRPr sz="1700"/>
          </a:p>
        </p:txBody>
      </p:sp>
      <p:sp>
        <p:nvSpPr>
          <p:cNvPr id="107" name="Google Shape;107;p15"/>
          <p:cNvSpPr txBox="1"/>
          <p:nvPr/>
        </p:nvSpPr>
        <p:spPr>
          <a:xfrm>
            <a:off x="581025" y="1862262"/>
            <a:ext cx="1905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0B98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→</a:t>
            </a:r>
            <a:endParaRPr lang="en-US" sz="1500" b="1" i="0" u="none" strike="noStrike" cap="none">
              <a:solidFill>
                <a:srgbClr val="10B98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08" name="Google Shape;108;p15"/>
          <p:cNvSpPr txBox="1"/>
          <p:nvPr/>
        </p:nvSpPr>
        <p:spPr>
          <a:xfrm>
            <a:off x="581025" y="4092100"/>
            <a:ext cx="1905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0B98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→</a:t>
            </a:r>
            <a:endParaRPr lang="en-US" sz="1500" b="1" i="0" u="none" strike="noStrike" cap="none">
              <a:solidFill>
                <a:srgbClr val="10B98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09" name="Google Shape;109;p15"/>
          <p:cNvSpPr txBox="1"/>
          <p:nvPr/>
        </p:nvSpPr>
        <p:spPr>
          <a:xfrm>
            <a:off x="581025" y="5043700"/>
            <a:ext cx="1905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0B98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→</a:t>
            </a:r>
            <a:endParaRPr lang="en-US" sz="1500" b="1" i="0" u="none" strike="noStrike" cap="none">
              <a:solidFill>
                <a:srgbClr val="10B98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10" name="Google Shape;110;p15"/>
          <p:cNvSpPr txBox="1"/>
          <p:nvPr/>
        </p:nvSpPr>
        <p:spPr>
          <a:xfrm>
            <a:off x="771525" y="581025"/>
            <a:ext cx="11381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0B98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TARGET HARDWARE: TI TDA4VM SOC</a:t>
            </a:r>
            <a:endParaRPr lang="en-US" sz="3000" b="1" i="0" u="none" strike="noStrike" cap="none">
              <a:solidFill>
                <a:srgbClr val="10B98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11" name="Google Shape;111;p15"/>
          <p:cNvSpPr/>
          <p:nvPr/>
        </p:nvSpPr>
        <p:spPr>
          <a:xfrm>
            <a:off x="581025" y="581025"/>
            <a:ext cx="57300" cy="466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112" name="Google Shape;112;p15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6576850" y="1339487"/>
            <a:ext cx="4468375" cy="5136174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5"/>
          <p:cNvSpPr txBox="1"/>
          <p:nvPr/>
        </p:nvSpPr>
        <p:spPr>
          <a:xfrm>
            <a:off x="819138" y="3140499"/>
            <a:ext cx="5038800" cy="6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8625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CBD5E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ARM Cortex-R5F</a:t>
            </a:r>
            <a:r>
              <a:rPr lang="en-US" sz="1800" b="1" i="0" u="none" strike="noStrike" cap="none">
                <a:solidFill>
                  <a:srgbClr val="CBD5E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:</a:t>
            </a:r>
            <a:r>
              <a:rPr lang="en-US" sz="1800" b="0" i="0" u="none" strike="noStrike" cap="none">
                <a:solidFill>
                  <a:srgbClr val="CBD5E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en-US" sz="1800">
                <a:solidFill>
                  <a:srgbClr val="CBD5E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Six Arm Cortex-R5F MCUs at up to 1.0GHz</a:t>
            </a:r>
            <a:endParaRPr sz="1700"/>
          </a:p>
        </p:txBody>
      </p:sp>
      <p:sp>
        <p:nvSpPr>
          <p:cNvPr id="114" name="Google Shape;114;p15"/>
          <p:cNvSpPr txBox="1"/>
          <p:nvPr/>
        </p:nvSpPr>
        <p:spPr>
          <a:xfrm>
            <a:off x="581013" y="3140500"/>
            <a:ext cx="1905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0B98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→</a:t>
            </a:r>
            <a:endParaRPr lang="en-US" sz="1500" b="1" i="0" u="none" strike="noStrike" cap="none">
              <a:solidFill>
                <a:srgbClr val="10B98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16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6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6334125" y="1171750"/>
            <a:ext cx="4953825" cy="547165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6"/>
          <p:cNvSpPr txBox="1"/>
          <p:nvPr/>
        </p:nvSpPr>
        <p:spPr>
          <a:xfrm>
            <a:off x="581025" y="1339500"/>
            <a:ext cx="56202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The TDA4VM integrates specialized </a:t>
            </a:r>
            <a:r>
              <a:rPr lang="en-US" sz="1500">
                <a:solidFill>
                  <a:srgbClr val="94A3B8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accelerators</a:t>
            </a:r>
            <a:r>
              <a:rPr lang="en-US" sz="1500" b="0" i="0" u="none" strike="noStrike" cap="none">
                <a:solidFill>
                  <a:srgbClr val="94A3B8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en-US" sz="1500">
                <a:solidFill>
                  <a:srgbClr val="94A3B8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:</a:t>
            </a:r>
            <a:endParaRPr lang="en-US" sz="1500">
              <a:solidFill>
                <a:srgbClr val="94A3B8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22" name="Google Shape;122;p16"/>
          <p:cNvSpPr txBox="1"/>
          <p:nvPr/>
        </p:nvSpPr>
        <p:spPr>
          <a:xfrm>
            <a:off x="819150" y="1862262"/>
            <a:ext cx="5038800" cy="10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8625" tIns="0" rIns="0" bIns="0" anchor="t" anchorCtr="0">
            <a:spAutoFit/>
          </a:bodyPr>
          <a:lstStyle/>
          <a:p>
            <a:pPr marL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 panose="020B0604020202020204"/>
              <a:buNone/>
            </a:pPr>
            <a:r>
              <a:rPr lang="en-US" sz="1800" b="1">
                <a:solidFill>
                  <a:srgbClr val="CBD5E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MMA:</a:t>
            </a:r>
            <a:r>
              <a:rPr lang="en-US" sz="1800">
                <a:solidFill>
                  <a:srgbClr val="CBD5E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Deep-learning matrix multiply accelerator (MMA), up to 8 TOPS (8b) at 1.0GHz</a:t>
            </a:r>
            <a:endParaRPr sz="2100"/>
          </a:p>
        </p:txBody>
      </p:sp>
      <p:sp>
        <p:nvSpPr>
          <p:cNvPr id="123" name="Google Shape;123;p16"/>
          <p:cNvSpPr txBox="1"/>
          <p:nvPr/>
        </p:nvSpPr>
        <p:spPr>
          <a:xfrm>
            <a:off x="819150" y="4038600"/>
            <a:ext cx="5038800" cy="10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8625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CBD5E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VPAC</a:t>
            </a:r>
            <a:r>
              <a:rPr lang="en-US" sz="1800" b="1" i="0" u="none" strike="noStrike" cap="none">
                <a:solidFill>
                  <a:srgbClr val="CBD5E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:</a:t>
            </a:r>
            <a:r>
              <a:rPr lang="en-US" sz="1800" b="0" i="0" u="none" strike="noStrike" cap="none">
                <a:solidFill>
                  <a:srgbClr val="CBD5E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en-US" sz="1800">
                <a:solidFill>
                  <a:srgbClr val="CBD5E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Vision Processing Accelerators with Image Signal Processor (ISP) and multiple vision assist accelerators</a:t>
            </a:r>
            <a:endParaRPr sz="1700"/>
          </a:p>
        </p:txBody>
      </p:sp>
      <p:sp>
        <p:nvSpPr>
          <p:cNvPr id="124" name="Google Shape;124;p16"/>
          <p:cNvSpPr txBox="1"/>
          <p:nvPr/>
        </p:nvSpPr>
        <p:spPr>
          <a:xfrm>
            <a:off x="819150" y="5345700"/>
            <a:ext cx="5038800" cy="6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8625" tIns="0" rIns="0" bIns="0" anchor="t" anchorCtr="0">
            <a:spAutoFit/>
          </a:bodyPr>
          <a:lstStyle/>
          <a:p>
            <a:pPr marL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 panose="020B0604020202020204"/>
              <a:buNone/>
            </a:pPr>
            <a:r>
              <a:rPr lang="en-US" sz="1800" b="1">
                <a:solidFill>
                  <a:srgbClr val="CBD5E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3D GPU</a:t>
            </a:r>
            <a:r>
              <a:rPr lang="en-US" sz="1800" b="1">
                <a:solidFill>
                  <a:srgbClr val="CBD5E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:</a:t>
            </a:r>
            <a:r>
              <a:rPr lang="en-US" sz="1800">
                <a:solidFill>
                  <a:srgbClr val="CBD5E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PowerVR Rogue 8XE GE8430, up to 750MHz, 96GFLOPS, 6Gpix/sec</a:t>
            </a:r>
            <a:endParaRPr sz="2000"/>
          </a:p>
        </p:txBody>
      </p:sp>
      <p:sp>
        <p:nvSpPr>
          <p:cNvPr id="125" name="Google Shape;125;p16"/>
          <p:cNvSpPr txBox="1"/>
          <p:nvPr/>
        </p:nvSpPr>
        <p:spPr>
          <a:xfrm>
            <a:off x="581025" y="1862262"/>
            <a:ext cx="1905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0B98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→</a:t>
            </a:r>
            <a:endParaRPr lang="en-US" sz="1500" b="1" i="0" u="none" strike="noStrike" cap="none">
              <a:solidFill>
                <a:srgbClr val="10B98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26" name="Google Shape;126;p16"/>
          <p:cNvSpPr txBox="1"/>
          <p:nvPr/>
        </p:nvSpPr>
        <p:spPr>
          <a:xfrm>
            <a:off x="581025" y="4038600"/>
            <a:ext cx="1905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0B98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→</a:t>
            </a:r>
            <a:endParaRPr lang="en-US" sz="1500" b="1" i="0" u="none" strike="noStrike" cap="none">
              <a:solidFill>
                <a:srgbClr val="10B98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27" name="Google Shape;127;p16"/>
          <p:cNvSpPr txBox="1"/>
          <p:nvPr/>
        </p:nvSpPr>
        <p:spPr>
          <a:xfrm>
            <a:off x="581025" y="5345700"/>
            <a:ext cx="1905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0B98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→</a:t>
            </a:r>
            <a:endParaRPr lang="en-US" sz="1500" b="1" i="0" u="none" strike="noStrike" cap="none">
              <a:solidFill>
                <a:srgbClr val="10B98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28" name="Google Shape;128;p16"/>
          <p:cNvSpPr txBox="1"/>
          <p:nvPr/>
        </p:nvSpPr>
        <p:spPr>
          <a:xfrm>
            <a:off x="771525" y="581025"/>
            <a:ext cx="11381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0B98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TARGET HARDWARE: TI TDA4VM SOC</a:t>
            </a:r>
            <a:endParaRPr lang="en-US" sz="3000" b="1" i="0" u="none" strike="noStrike" cap="none">
              <a:solidFill>
                <a:srgbClr val="10B98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29" name="Google Shape;129;p16"/>
          <p:cNvSpPr/>
          <p:nvPr/>
        </p:nvSpPr>
        <p:spPr>
          <a:xfrm>
            <a:off x="581025" y="581025"/>
            <a:ext cx="57300" cy="466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130" name="Google Shape;130;p16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6576850" y="1339487"/>
            <a:ext cx="4468375" cy="5136174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6"/>
          <p:cNvSpPr txBox="1"/>
          <p:nvPr/>
        </p:nvSpPr>
        <p:spPr>
          <a:xfrm>
            <a:off x="819138" y="3119099"/>
            <a:ext cx="5038800" cy="6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8625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CBD5E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DMPAC</a:t>
            </a:r>
            <a:r>
              <a:rPr lang="en-US" sz="1800" b="1" i="0" u="none" strike="noStrike" cap="none">
                <a:solidFill>
                  <a:srgbClr val="CBD5E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:</a:t>
            </a:r>
            <a:r>
              <a:rPr lang="en-US" sz="1800" b="0" i="0" u="none" strike="noStrike" cap="none">
                <a:solidFill>
                  <a:srgbClr val="CBD5E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en-US" sz="1800">
                <a:solidFill>
                  <a:srgbClr val="CBD5E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Depth and Motion Processing Accelerators</a:t>
            </a:r>
            <a:endParaRPr sz="1700"/>
          </a:p>
        </p:txBody>
      </p:sp>
      <p:sp>
        <p:nvSpPr>
          <p:cNvPr id="132" name="Google Shape;132;p16"/>
          <p:cNvSpPr txBox="1"/>
          <p:nvPr/>
        </p:nvSpPr>
        <p:spPr>
          <a:xfrm>
            <a:off x="581013" y="3119100"/>
            <a:ext cx="1905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0B98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→</a:t>
            </a:r>
            <a:endParaRPr lang="en-US" sz="1500" b="1" i="0" u="none" strike="noStrike" cap="none">
              <a:solidFill>
                <a:srgbClr val="10B98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17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17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6334125" y="1171750"/>
            <a:ext cx="4953825" cy="547165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17"/>
          <p:cNvSpPr txBox="1"/>
          <p:nvPr/>
        </p:nvSpPr>
        <p:spPr>
          <a:xfrm>
            <a:off x="581025" y="1339500"/>
            <a:ext cx="5620200" cy="5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buNone/>
            </a:pPr>
            <a:r>
              <a:rPr lang="en-US" sz="1500">
                <a:solidFill>
                  <a:srgbClr val="94A3B8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Custom-designed interconnect fabric supporting near max processing entitlement Memory subsystem:</a:t>
            </a:r>
            <a:endParaRPr lang="en-US" sz="1500">
              <a:solidFill>
                <a:srgbClr val="94A3B8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40" name="Google Shape;140;p17"/>
          <p:cNvSpPr txBox="1"/>
          <p:nvPr/>
        </p:nvSpPr>
        <p:spPr>
          <a:xfrm>
            <a:off x="819150" y="4038600"/>
            <a:ext cx="5038800" cy="10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8625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CBD5E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1MB shared L2 cache per dual-core Cortex-A72 cluster, 32KB L1 DCache and 48KB L1 ICache per Cortex-A72 core</a:t>
            </a:r>
            <a:endParaRPr sz="1700"/>
          </a:p>
        </p:txBody>
      </p:sp>
      <p:sp>
        <p:nvSpPr>
          <p:cNvPr id="141" name="Google Shape;141;p17"/>
          <p:cNvSpPr txBox="1"/>
          <p:nvPr/>
        </p:nvSpPr>
        <p:spPr>
          <a:xfrm>
            <a:off x="819150" y="2210662"/>
            <a:ext cx="5038800" cy="6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8625" tIns="0" rIns="0" bIns="0" anchor="t" anchorCtr="0">
            <a:spAutoFit/>
          </a:bodyPr>
          <a:lstStyle/>
          <a:p>
            <a:pPr marL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CBD5E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Memory:</a:t>
            </a:r>
            <a:r>
              <a:rPr lang="en-US" sz="1800">
                <a:solidFill>
                  <a:srgbClr val="CBD5E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en-US" sz="1800">
                <a:solidFill>
                  <a:srgbClr val="CBD5E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8MB of on-chip L3 RAM with ECC and coherency</a:t>
            </a:r>
            <a:endParaRPr sz="2000"/>
          </a:p>
        </p:txBody>
      </p:sp>
      <p:sp>
        <p:nvSpPr>
          <p:cNvPr id="142" name="Google Shape;142;p17"/>
          <p:cNvSpPr txBox="1"/>
          <p:nvPr/>
        </p:nvSpPr>
        <p:spPr>
          <a:xfrm>
            <a:off x="581025" y="4038600"/>
            <a:ext cx="1905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0B98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→</a:t>
            </a:r>
            <a:endParaRPr lang="en-US" sz="1500" b="1" i="0" u="none" strike="noStrike" cap="none">
              <a:solidFill>
                <a:srgbClr val="10B98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43" name="Google Shape;143;p17"/>
          <p:cNvSpPr txBox="1"/>
          <p:nvPr/>
        </p:nvSpPr>
        <p:spPr>
          <a:xfrm>
            <a:off x="581025" y="2210662"/>
            <a:ext cx="1905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0B98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→</a:t>
            </a:r>
            <a:endParaRPr lang="en-US" sz="1500" b="1" i="0" u="none" strike="noStrike" cap="none">
              <a:solidFill>
                <a:srgbClr val="10B98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44" name="Google Shape;144;p17"/>
          <p:cNvSpPr txBox="1"/>
          <p:nvPr/>
        </p:nvSpPr>
        <p:spPr>
          <a:xfrm>
            <a:off x="771525" y="581025"/>
            <a:ext cx="11381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0B98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TARGET HARDWARE: TI TDA4VM SOC</a:t>
            </a:r>
            <a:endParaRPr lang="en-US" sz="3000" b="1" i="0" u="none" strike="noStrike" cap="none">
              <a:solidFill>
                <a:srgbClr val="10B98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45" name="Google Shape;145;p17"/>
          <p:cNvSpPr/>
          <p:nvPr/>
        </p:nvSpPr>
        <p:spPr>
          <a:xfrm>
            <a:off x="581025" y="581025"/>
            <a:ext cx="57300" cy="466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146" name="Google Shape;146;p17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6576850" y="1339487"/>
            <a:ext cx="4468375" cy="5136174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7"/>
          <p:cNvSpPr txBox="1"/>
          <p:nvPr/>
        </p:nvSpPr>
        <p:spPr>
          <a:xfrm>
            <a:off x="819138" y="3119099"/>
            <a:ext cx="5038800" cy="6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8625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CBD5E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LPDDR4</a:t>
            </a:r>
            <a:r>
              <a:rPr lang="en-US" sz="1800" b="1" i="0" u="none" strike="noStrike" cap="none">
                <a:solidFill>
                  <a:srgbClr val="CBD5E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:</a:t>
            </a:r>
            <a:r>
              <a:rPr lang="en-US" sz="1800" b="0" i="0" u="none" strike="noStrike" cap="none">
                <a:solidFill>
                  <a:srgbClr val="CBD5E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en-US" sz="1800">
                <a:solidFill>
                  <a:srgbClr val="CBD5E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External Memory Interface (EMIF) module with ECC</a:t>
            </a:r>
            <a:endParaRPr sz="1700"/>
          </a:p>
        </p:txBody>
      </p:sp>
      <p:sp>
        <p:nvSpPr>
          <p:cNvPr id="148" name="Google Shape;148;p17"/>
          <p:cNvSpPr txBox="1"/>
          <p:nvPr/>
        </p:nvSpPr>
        <p:spPr>
          <a:xfrm>
            <a:off x="581013" y="3119100"/>
            <a:ext cx="1905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0B98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→</a:t>
            </a:r>
            <a:endParaRPr lang="en-US" sz="1500" b="1" i="0" u="none" strike="noStrike" cap="none">
              <a:solidFill>
                <a:srgbClr val="10B98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49" name="Google Shape;149;p17"/>
          <p:cNvSpPr txBox="1"/>
          <p:nvPr/>
        </p:nvSpPr>
        <p:spPr>
          <a:xfrm>
            <a:off x="819150" y="5345700"/>
            <a:ext cx="5038800" cy="6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8625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CBD5E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16K I-Cache, 16K D-Cache, 64K L2 TCM per six Six Arm Cortex-R5F MCUs</a:t>
            </a:r>
            <a:endParaRPr sz="1700"/>
          </a:p>
        </p:txBody>
      </p:sp>
      <p:sp>
        <p:nvSpPr>
          <p:cNvPr id="150" name="Google Shape;150;p17"/>
          <p:cNvSpPr txBox="1"/>
          <p:nvPr/>
        </p:nvSpPr>
        <p:spPr>
          <a:xfrm>
            <a:off x="581025" y="5345700"/>
            <a:ext cx="1905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0B98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→</a:t>
            </a:r>
            <a:endParaRPr lang="en-US" sz="1500" b="1" i="0" u="none" strike="noStrike" cap="none">
              <a:solidFill>
                <a:srgbClr val="10B98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18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18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81025" y="2352675"/>
            <a:ext cx="3486150" cy="3000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8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4352925" y="2352675"/>
            <a:ext cx="3486150" cy="3000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18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8124825" y="2352675"/>
            <a:ext cx="3486150" cy="3000375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18"/>
          <p:cNvSpPr txBox="1"/>
          <p:nvPr/>
        </p:nvSpPr>
        <p:spPr>
          <a:xfrm>
            <a:off x="876300" y="3305175"/>
            <a:ext cx="304038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F8FAFC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Primary Objective</a:t>
            </a:r>
            <a:endParaRPr lang="en-US" sz="1800" b="1" i="0" u="none" strike="noStrike" cap="none">
              <a:solidFill>
                <a:srgbClr val="F8FAFC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60" name="Google Shape;160;p18"/>
          <p:cNvSpPr txBox="1"/>
          <p:nvPr/>
        </p:nvSpPr>
        <p:spPr>
          <a:xfrm>
            <a:off x="876300" y="3724275"/>
            <a:ext cx="2895600" cy="12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Minimize end-to-end latency to satisfy deterministic 30 FPS real-time requirements in ADAS/Robotics/</a:t>
            </a:r>
            <a:r>
              <a:rPr lang="en-US" sz="1500">
                <a:solidFill>
                  <a:srgbClr val="94A3B8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Defence Ind.</a:t>
            </a:r>
            <a:r>
              <a:rPr lang="en-US" sz="1500" b="0" i="0" u="none" strike="noStrike" cap="none">
                <a:solidFill>
                  <a:srgbClr val="94A3B8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.</a:t>
            </a:r>
            <a:endParaRPr lang="en-US" sz="1500" b="0" i="0" u="none" strike="noStrike" cap="none">
              <a:solidFill>
                <a:srgbClr val="94A3B8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61" name="Google Shape;161;p18"/>
          <p:cNvSpPr txBox="1"/>
          <p:nvPr/>
        </p:nvSpPr>
        <p:spPr>
          <a:xfrm>
            <a:off x="4648200" y="3305175"/>
            <a:ext cx="304038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F8FAFC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Hardware Constraints</a:t>
            </a:r>
            <a:endParaRPr lang="en-US" sz="1800" b="1" i="0" u="none" strike="noStrike" cap="none">
              <a:solidFill>
                <a:srgbClr val="F8FAFC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62" name="Google Shape;162;p18"/>
          <p:cNvSpPr txBox="1"/>
          <p:nvPr/>
        </p:nvSpPr>
        <p:spPr>
          <a:xfrm>
            <a:off x="4648200" y="3724275"/>
            <a:ext cx="2895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Strict 8MB on-chip shared memory budget and finite DDR bandwidth for large tensor transfers.</a:t>
            </a:r>
            <a:endParaRPr lang="en-US" sz="1500" b="0" i="0" u="none" strike="noStrike" cap="none">
              <a:solidFill>
                <a:srgbClr val="94A3B8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63" name="Google Shape;163;p18"/>
          <p:cNvSpPr txBox="1"/>
          <p:nvPr/>
        </p:nvSpPr>
        <p:spPr>
          <a:xfrm>
            <a:off x="8420100" y="3305175"/>
            <a:ext cx="304038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F8FAFC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Accuracy Target</a:t>
            </a:r>
            <a:endParaRPr lang="en-US" sz="1800" b="1" i="0" u="none" strike="noStrike" cap="none">
              <a:solidFill>
                <a:srgbClr val="F8FAFC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64" name="Google Shape;164;p18"/>
          <p:cNvSpPr txBox="1"/>
          <p:nvPr/>
        </p:nvSpPr>
        <p:spPr>
          <a:xfrm>
            <a:off x="8420100" y="3724275"/>
            <a:ext cx="28956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Maintain quantized model accuracy within ε range of the baseline FP32 performance.</a:t>
            </a:r>
            <a:endParaRPr lang="en-US" sz="1500" b="0" i="0" u="none" strike="noStrike" cap="none">
              <a:solidFill>
                <a:srgbClr val="94A3B8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pic>
        <p:nvPicPr>
          <p:cNvPr id="165" name="Google Shape;165;p18" descr="image.png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876300" y="2686050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18" descr="image.png"/>
          <p:cNvPicPr preferRelativeResize="0"/>
          <p:nvPr/>
        </p:nvPicPr>
        <p:blipFill rotWithShape="1">
          <a:blip r:embed="rId6"/>
          <a:srcRect/>
          <a:stretch>
            <a:fillRect/>
          </a:stretch>
        </p:blipFill>
        <p:spPr>
          <a:xfrm>
            <a:off x="4648200" y="2686050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18" descr="image.png"/>
          <p:cNvPicPr preferRelativeResize="0"/>
          <p:nvPr/>
        </p:nvPicPr>
        <p:blipFill rotWithShape="1">
          <a:blip r:embed="rId7"/>
          <a:srcRect/>
          <a:stretch>
            <a:fillRect/>
          </a:stretch>
        </p:blipFill>
        <p:spPr>
          <a:xfrm>
            <a:off x="8420100" y="2686050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18"/>
          <p:cNvSpPr txBox="1"/>
          <p:nvPr/>
        </p:nvSpPr>
        <p:spPr>
          <a:xfrm>
            <a:off x="771525" y="581025"/>
            <a:ext cx="11381422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0B98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SYSTEM REQUIREMENTS &amp; GOALS</a:t>
            </a:r>
            <a:endParaRPr lang="en-US" sz="3000" b="1" i="0" u="none" strike="noStrike" cap="none">
              <a:solidFill>
                <a:srgbClr val="10B98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69" name="Google Shape;169;p18"/>
          <p:cNvSpPr/>
          <p:nvPr/>
        </p:nvSpPr>
        <p:spPr>
          <a:xfrm>
            <a:off x="581025" y="581025"/>
            <a:ext cx="57150" cy="466725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19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19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81025" y="2089993"/>
            <a:ext cx="11029950" cy="1003696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19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3109019" y="2337643"/>
            <a:ext cx="5973960" cy="50839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77" name="Google Shape;177;p19"/>
          <p:cNvGraphicFramePr/>
          <p:nvPr/>
        </p:nvGraphicFramePr>
        <p:xfrm>
          <a:off x="581025" y="3284190"/>
          <a:ext cx="11029950" cy="3000000"/>
        </p:xfrm>
        <a:graphic>
          <a:graphicData uri="http://schemas.openxmlformats.org/drawingml/2006/table">
            <a:tbl>
              <a:tblPr firstRow="1" bandRow="1">
                <a:noFill/>
                <a:tableStyleId>{6B51A9A8-51AB-4993-90A6-B98231175B78}</a:tableStyleId>
              </a:tblPr>
              <a:tblGrid>
                <a:gridCol w="2573100"/>
                <a:gridCol w="4704000"/>
                <a:gridCol w="3752850"/>
              </a:tblGrid>
              <a:tr h="630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10B981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Decision Variable</a:t>
                      </a:r>
                      <a:endParaRPr lang="en-US" sz="1350" b="1" i="0" u="none" strike="noStrike" cap="none">
                        <a:solidFill>
                          <a:srgbClr val="10B981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10B981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Definition</a:t>
                      </a:r>
                      <a:endParaRPr lang="en-US" sz="1350" b="1" i="0" u="none" strike="noStrike" cap="none">
                        <a:solidFill>
                          <a:srgbClr val="10B981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10B981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Constraint</a:t>
                      </a:r>
                      <a:endParaRPr lang="en-US" sz="1350" b="1" i="0" u="none" strike="noStrike" cap="none">
                        <a:solidFill>
                          <a:srgbClr val="10B981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</a:tr>
              <a:tr h="630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CBD5E1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ci ∈ C</a:t>
                      </a:r>
                      <a:endParaRPr lang="en-US" sz="1350" b="0" i="0" u="none" strike="noStrike" cap="none">
                        <a:solidFill>
                          <a:srgbClr val="CBD5E1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CBD5E1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Processing Unit (ARM, C7x, C66x)</a:t>
                      </a:r>
                      <a:endParaRPr lang="en-US" sz="1350" b="0" i="0" u="none" strike="noStrike" cap="none">
                        <a:solidFill>
                          <a:srgbClr val="CBD5E1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CBD5E1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Hardware Operator Support</a:t>
                      </a:r>
                      <a:endParaRPr lang="en-US" sz="1350" b="0" i="0" u="none" strike="noStrike" cap="none">
                        <a:solidFill>
                          <a:srgbClr val="CBD5E1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630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CBD5E1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si ∈ {0, 1}</a:t>
                      </a:r>
                      <a:endParaRPr lang="en-US" sz="1350" b="0" i="0" u="none" strike="noStrike" cap="none">
                        <a:solidFill>
                          <a:srgbClr val="CBD5E1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CBD5E1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Memory Placement (DDR vs MSMC)</a:t>
                      </a:r>
                      <a:endParaRPr lang="en-US" sz="1350" b="0" i="0" u="none" strike="noStrike" cap="none">
                        <a:solidFill>
                          <a:srgbClr val="CBD5E1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CBD5E1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Σ mi ≤ Mshared</a:t>
                      </a:r>
                      <a:endParaRPr lang="en-US" sz="1350" b="0" i="0" u="none" strike="noStrike" cap="none">
                        <a:solidFill>
                          <a:srgbClr val="CBD5E1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630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CBD5E1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Si</a:t>
                      </a:r>
                      <a:endParaRPr lang="en-US" sz="1350" b="0" i="0" u="none" strike="noStrike" cap="none">
                        <a:solidFill>
                          <a:srgbClr val="CBD5E1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CBD5E1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Scheduling/Tiling Order</a:t>
                      </a:r>
                      <a:endParaRPr lang="en-US" sz="1350" b="0" i="0" u="none" strike="noStrike" cap="none">
                        <a:solidFill>
                          <a:srgbClr val="CBD5E1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CBD5E1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Ttotal ≤ Tdeadline</a:t>
                      </a:r>
                      <a:endParaRPr lang="en-US" sz="1350" b="0" i="0" u="none" strike="noStrike" cap="none">
                        <a:solidFill>
                          <a:srgbClr val="CBD5E1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  <p:sp>
        <p:nvSpPr>
          <p:cNvPr id="178" name="Google Shape;178;p19"/>
          <p:cNvSpPr/>
          <p:nvPr/>
        </p:nvSpPr>
        <p:spPr>
          <a:xfrm>
            <a:off x="581025" y="3855690"/>
            <a:ext cx="2573089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79" name="Google Shape;179;p19"/>
          <p:cNvSpPr/>
          <p:nvPr/>
        </p:nvSpPr>
        <p:spPr>
          <a:xfrm>
            <a:off x="3154114" y="3855690"/>
            <a:ext cx="4704010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80" name="Google Shape;180;p19"/>
          <p:cNvSpPr/>
          <p:nvPr/>
        </p:nvSpPr>
        <p:spPr>
          <a:xfrm>
            <a:off x="7858125" y="3855690"/>
            <a:ext cx="3752850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81" name="Google Shape;181;p19"/>
          <p:cNvSpPr/>
          <p:nvPr/>
        </p:nvSpPr>
        <p:spPr>
          <a:xfrm>
            <a:off x="581025" y="4513808"/>
            <a:ext cx="2573089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82" name="Google Shape;182;p19"/>
          <p:cNvSpPr/>
          <p:nvPr/>
        </p:nvSpPr>
        <p:spPr>
          <a:xfrm>
            <a:off x="3154114" y="4513808"/>
            <a:ext cx="4704010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83" name="Google Shape;183;p19"/>
          <p:cNvSpPr/>
          <p:nvPr/>
        </p:nvSpPr>
        <p:spPr>
          <a:xfrm>
            <a:off x="7858125" y="4513808"/>
            <a:ext cx="3752850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84" name="Google Shape;184;p19"/>
          <p:cNvSpPr/>
          <p:nvPr/>
        </p:nvSpPr>
        <p:spPr>
          <a:xfrm>
            <a:off x="581025" y="5157638"/>
            <a:ext cx="2573089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85" name="Google Shape;185;p19"/>
          <p:cNvSpPr/>
          <p:nvPr/>
        </p:nvSpPr>
        <p:spPr>
          <a:xfrm>
            <a:off x="3154114" y="5157638"/>
            <a:ext cx="4704010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86" name="Google Shape;186;p19"/>
          <p:cNvSpPr/>
          <p:nvPr/>
        </p:nvSpPr>
        <p:spPr>
          <a:xfrm>
            <a:off x="7858125" y="5157638"/>
            <a:ext cx="3752850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87" name="Google Shape;187;p19"/>
          <p:cNvSpPr/>
          <p:nvPr/>
        </p:nvSpPr>
        <p:spPr>
          <a:xfrm>
            <a:off x="581025" y="5791944"/>
            <a:ext cx="2573089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88" name="Google Shape;188;p19"/>
          <p:cNvSpPr/>
          <p:nvPr/>
        </p:nvSpPr>
        <p:spPr>
          <a:xfrm>
            <a:off x="3154114" y="5791944"/>
            <a:ext cx="4704010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89" name="Google Shape;189;p19"/>
          <p:cNvSpPr/>
          <p:nvPr/>
        </p:nvSpPr>
        <p:spPr>
          <a:xfrm>
            <a:off x="7858125" y="5791944"/>
            <a:ext cx="3752850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90" name="Google Shape;190;p19"/>
          <p:cNvSpPr txBox="1"/>
          <p:nvPr/>
        </p:nvSpPr>
        <p:spPr>
          <a:xfrm>
            <a:off x="771525" y="581025"/>
            <a:ext cx="11381422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0B98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OPTIMIZATION MODEL</a:t>
            </a:r>
            <a:endParaRPr lang="en-US" sz="3000" b="1" i="0" u="none" strike="noStrike" cap="none">
              <a:solidFill>
                <a:srgbClr val="10B98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91" name="Google Shape;191;p19"/>
          <p:cNvSpPr/>
          <p:nvPr/>
        </p:nvSpPr>
        <p:spPr>
          <a:xfrm>
            <a:off x="581025" y="581025"/>
            <a:ext cx="57150" cy="466725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Google Shape;196;p20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20"/>
          <p:cNvSpPr txBox="1"/>
          <p:nvPr/>
        </p:nvSpPr>
        <p:spPr>
          <a:xfrm>
            <a:off x="771525" y="581025"/>
            <a:ext cx="4990623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0B98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SYSTEM DATAFLOW</a:t>
            </a:r>
            <a:endParaRPr lang="en-US" sz="3000" b="1" i="0" u="none" strike="noStrike" cap="none">
              <a:solidFill>
                <a:srgbClr val="10B98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98" name="Google Shape;198;p20"/>
          <p:cNvSpPr/>
          <p:nvPr/>
        </p:nvSpPr>
        <p:spPr>
          <a:xfrm>
            <a:off x="581025" y="581025"/>
            <a:ext cx="57150" cy="466725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199" name="Google Shape;199;p20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6096000" y="9525"/>
            <a:ext cx="608647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20"/>
          <p:cNvSpPr txBox="1"/>
          <p:nvPr/>
        </p:nvSpPr>
        <p:spPr>
          <a:xfrm>
            <a:off x="581025" y="2719387"/>
            <a:ext cx="494347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Our heterogeneous pipeline distributes tasks across cores to maximize parallel execution:</a:t>
            </a:r>
            <a:endParaRPr lang="en-US" sz="1500" b="0" i="0" u="none" strike="noStrike" cap="none">
              <a:solidFill>
                <a:srgbClr val="94A3B8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01" name="Google Shape;201;p20"/>
          <p:cNvSpPr txBox="1"/>
          <p:nvPr/>
        </p:nvSpPr>
        <p:spPr>
          <a:xfrm>
            <a:off x="819150" y="3481387"/>
            <a:ext cx="470535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8625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ARM: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Camera capture and resizing.</a:t>
            </a:r>
            <a:endParaRPr lang="en-US" sz="1500" b="0" i="0" u="none" strike="noStrike" cap="none">
              <a:solidFill>
                <a:srgbClr val="CBD5E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02" name="Google Shape;202;p20"/>
          <p:cNvSpPr txBox="1"/>
          <p:nvPr/>
        </p:nvSpPr>
        <p:spPr>
          <a:xfrm>
            <a:off x="819150" y="3862387"/>
            <a:ext cx="470535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8625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C7x+MMA: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Intensive TIDL INT8 Inference.</a:t>
            </a:r>
            <a:endParaRPr lang="en-US" sz="1500" b="0" i="0" u="none" strike="noStrike" cap="none">
              <a:solidFill>
                <a:srgbClr val="CBD5E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03" name="Google Shape;203;p20"/>
          <p:cNvSpPr txBox="1"/>
          <p:nvPr/>
        </p:nvSpPr>
        <p:spPr>
          <a:xfrm>
            <a:off x="819150" y="4243387"/>
            <a:ext cx="470535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8625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C66x: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Post-processing (NMS, decoding).</a:t>
            </a:r>
            <a:endParaRPr lang="en-US" sz="1500" b="0" i="0" u="none" strike="noStrike" cap="none">
              <a:solidFill>
                <a:srgbClr val="CBD5E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04" name="Google Shape;204;p20"/>
          <p:cNvSpPr txBox="1"/>
          <p:nvPr/>
        </p:nvSpPr>
        <p:spPr>
          <a:xfrm>
            <a:off x="819150" y="4624387"/>
            <a:ext cx="470535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8625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SRAM: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Shared double-buffering.</a:t>
            </a:r>
            <a:endParaRPr lang="en-US" sz="1500" b="0" i="0" u="none" strike="noStrike" cap="none">
              <a:solidFill>
                <a:srgbClr val="CBD5E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05" name="Google Shape;205;p20"/>
          <p:cNvSpPr txBox="1"/>
          <p:nvPr/>
        </p:nvSpPr>
        <p:spPr>
          <a:xfrm>
            <a:off x="581025" y="3481387"/>
            <a:ext cx="1905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0B98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→</a:t>
            </a:r>
            <a:endParaRPr lang="en-US" sz="1500" b="1" i="0" u="none" strike="noStrike" cap="none">
              <a:solidFill>
                <a:srgbClr val="10B98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06" name="Google Shape;206;p20"/>
          <p:cNvSpPr txBox="1"/>
          <p:nvPr/>
        </p:nvSpPr>
        <p:spPr>
          <a:xfrm>
            <a:off x="581025" y="3862387"/>
            <a:ext cx="1905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0B98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→</a:t>
            </a:r>
            <a:endParaRPr lang="en-US" sz="1500" b="1" i="0" u="none" strike="noStrike" cap="none">
              <a:solidFill>
                <a:srgbClr val="10B98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07" name="Google Shape;207;p20"/>
          <p:cNvSpPr txBox="1"/>
          <p:nvPr/>
        </p:nvSpPr>
        <p:spPr>
          <a:xfrm>
            <a:off x="581025" y="4243387"/>
            <a:ext cx="1905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0B98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→</a:t>
            </a:r>
            <a:endParaRPr lang="en-US" sz="1500" b="1" i="0" u="none" strike="noStrike" cap="none">
              <a:solidFill>
                <a:srgbClr val="10B98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08" name="Google Shape;208;p20"/>
          <p:cNvSpPr txBox="1"/>
          <p:nvPr/>
        </p:nvSpPr>
        <p:spPr>
          <a:xfrm>
            <a:off x="581025" y="4624387"/>
            <a:ext cx="1905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0B98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→</a:t>
            </a:r>
            <a:endParaRPr lang="en-US" sz="1500" b="1" i="0" u="none" strike="noStrike" cap="none">
              <a:solidFill>
                <a:srgbClr val="10B98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3" name="Google Shape;213;p21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4" name="Google Shape;214;p21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81025" y="2209800"/>
            <a:ext cx="3486150" cy="328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Google Shape;215;p21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4352925" y="2209800"/>
            <a:ext cx="3486150" cy="328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21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8124825" y="2209800"/>
            <a:ext cx="3486150" cy="3286125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21"/>
          <p:cNvSpPr txBox="1"/>
          <p:nvPr/>
        </p:nvSpPr>
        <p:spPr>
          <a:xfrm>
            <a:off x="876300" y="3162300"/>
            <a:ext cx="304038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F8FAFC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PTQ INT8</a:t>
            </a:r>
            <a:endParaRPr lang="en-US" sz="1800" b="1" i="0" u="none" strike="noStrike" cap="none">
              <a:solidFill>
                <a:srgbClr val="F8FAFC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18" name="Google Shape;218;p21"/>
          <p:cNvSpPr txBox="1"/>
          <p:nvPr/>
        </p:nvSpPr>
        <p:spPr>
          <a:xfrm>
            <a:off x="876300" y="3581400"/>
            <a:ext cx="2895600" cy="1428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TIDL-based Post-Training Quantization. Calibrated conversion of FP32 weights to 8-bit integers to leverage MMA performance.</a:t>
            </a:r>
            <a:endParaRPr lang="en-US" sz="1500" b="0" i="0" u="none" strike="noStrike" cap="none">
              <a:solidFill>
                <a:srgbClr val="94A3B8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19" name="Google Shape;219;p21"/>
          <p:cNvSpPr txBox="1"/>
          <p:nvPr/>
        </p:nvSpPr>
        <p:spPr>
          <a:xfrm>
            <a:off x="4648200" y="3162300"/>
            <a:ext cx="304038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F8FAFC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Memory Placement</a:t>
            </a:r>
            <a:endParaRPr lang="en-US" sz="1800" b="1" i="0" u="none" strike="noStrike" cap="none">
              <a:solidFill>
                <a:srgbClr val="F8FAFC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20" name="Google Shape;220;p21"/>
          <p:cNvSpPr txBox="1"/>
          <p:nvPr/>
        </p:nvSpPr>
        <p:spPr>
          <a:xfrm>
            <a:off x="4648200" y="3581400"/>
            <a:ext cx="2895600" cy="1428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Greedy allocation policy for MSMC SRAM. High-reuse activation tensors are prioritized for on-chip storage to reduce DDR stalls.</a:t>
            </a:r>
            <a:endParaRPr lang="en-US" sz="1500" b="0" i="0" u="none" strike="noStrike" cap="none">
              <a:solidFill>
                <a:srgbClr val="94A3B8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21" name="Google Shape;221;p21"/>
          <p:cNvSpPr txBox="1"/>
          <p:nvPr/>
        </p:nvSpPr>
        <p:spPr>
          <a:xfrm>
            <a:off x="8420100" y="3162300"/>
            <a:ext cx="304038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F8FAFC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Stage Overlap</a:t>
            </a:r>
            <a:endParaRPr lang="en-US" sz="1800" b="1" i="0" u="none" strike="noStrike" cap="none">
              <a:solidFill>
                <a:srgbClr val="F8FAFC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22" name="Google Shape;222;p21"/>
          <p:cNvSpPr txBox="1"/>
          <p:nvPr/>
        </p:nvSpPr>
        <p:spPr>
          <a:xfrm>
            <a:off x="8420100" y="3581400"/>
            <a:ext cx="2895600" cy="1428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Double-buffering and DMA-based prefetching. Overlapping memory movement with DSP compute to hide data transfer latency.</a:t>
            </a:r>
            <a:endParaRPr lang="en-US" sz="1500" b="0" i="0" u="none" strike="noStrike" cap="none">
              <a:solidFill>
                <a:srgbClr val="94A3B8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pic>
        <p:nvPicPr>
          <p:cNvPr id="223" name="Google Shape;223;p21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876300" y="2543175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4" name="Google Shape;224;p21" descr="image.png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4648200" y="2543175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5" name="Google Shape;225;p21" descr="image.png"/>
          <p:cNvPicPr preferRelativeResize="0"/>
          <p:nvPr/>
        </p:nvPicPr>
        <p:blipFill rotWithShape="1">
          <a:blip r:embed="rId6"/>
          <a:srcRect/>
          <a:stretch>
            <a:fillRect/>
          </a:stretch>
        </p:blipFill>
        <p:spPr>
          <a:xfrm>
            <a:off x="8420100" y="2543175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1"/>
          <p:cNvSpPr txBox="1"/>
          <p:nvPr/>
        </p:nvSpPr>
        <p:spPr>
          <a:xfrm>
            <a:off x="771525" y="581025"/>
            <a:ext cx="11381422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0B98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THREE PILLARS OF OPTIMIZATION</a:t>
            </a:r>
            <a:endParaRPr lang="en-US" sz="3000" b="1" i="0" u="none" strike="noStrike" cap="none">
              <a:solidFill>
                <a:srgbClr val="10B98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27" name="Google Shape;227;p21"/>
          <p:cNvSpPr/>
          <p:nvPr/>
        </p:nvSpPr>
        <p:spPr>
          <a:xfrm>
            <a:off x="581025" y="581025"/>
            <a:ext cx="57150" cy="466725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2" name="Google Shape;232;p22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3" name="Google Shape;233;p22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1552575" y="2185987"/>
            <a:ext cx="3333750" cy="3333750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22"/>
          <p:cNvSpPr txBox="1"/>
          <p:nvPr/>
        </p:nvSpPr>
        <p:spPr>
          <a:xfrm>
            <a:off x="6334125" y="2695575"/>
            <a:ext cx="5540692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5" b="1" i="0" u="none" strike="noStrike" cap="none">
                <a:solidFill>
                  <a:srgbClr val="F1F5F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Efficiency vs Accuracy</a:t>
            </a:r>
            <a:endParaRPr lang="en-US" sz="1405" b="1" i="0" u="none" strike="noStrike" cap="none">
              <a:solidFill>
                <a:srgbClr val="F1F5F9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35" name="Google Shape;235;p22"/>
          <p:cNvSpPr txBox="1"/>
          <p:nvPr/>
        </p:nvSpPr>
        <p:spPr>
          <a:xfrm>
            <a:off x="6334125" y="3092946"/>
            <a:ext cx="527685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Quantization reduces memory footprint by 4x and compute energy significantly. Our calibration strategy ensures mAP degradation remains &lt; 2% for most lightweight architectures.</a:t>
            </a:r>
            <a:endParaRPr lang="en-US" sz="1500" b="0" i="0" u="none" strike="noStrike" cap="none">
              <a:solidFill>
                <a:srgbClr val="94A3B8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36" name="Google Shape;236;p22"/>
          <p:cNvSpPr txBox="1"/>
          <p:nvPr/>
        </p:nvSpPr>
        <p:spPr>
          <a:xfrm>
            <a:off x="6334125" y="4426446"/>
            <a:ext cx="52768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0B98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Leveraging TIDL Import Tools for optimal per-layer scaling.</a:t>
            </a:r>
            <a:endParaRPr lang="en-US" sz="1500" b="1" i="0" u="none" strike="noStrike" cap="none">
              <a:solidFill>
                <a:srgbClr val="10B98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pic>
        <p:nvPicPr>
          <p:cNvPr id="237" name="Google Shape;237;p22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590675" y="2224087"/>
            <a:ext cx="3257550" cy="3257550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22"/>
          <p:cNvSpPr txBox="1"/>
          <p:nvPr/>
        </p:nvSpPr>
        <p:spPr>
          <a:xfrm>
            <a:off x="771525" y="581025"/>
            <a:ext cx="11381422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0B98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INT8 PRECISION IMPACT</a:t>
            </a:r>
            <a:endParaRPr lang="en-US" sz="3000" b="1" i="0" u="none" strike="noStrike" cap="none">
              <a:solidFill>
                <a:srgbClr val="10B98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39" name="Google Shape;239;p22"/>
          <p:cNvSpPr/>
          <p:nvPr/>
        </p:nvSpPr>
        <p:spPr>
          <a:xfrm>
            <a:off x="581025" y="581025"/>
            <a:ext cx="57150" cy="466725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4" name="Google Shape;244;p23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45" name="Google Shape;245;p23"/>
          <p:cNvGraphicFramePr/>
          <p:nvPr/>
        </p:nvGraphicFramePr>
        <p:xfrm>
          <a:off x="581025" y="2076450"/>
          <a:ext cx="11029950" cy="3552825"/>
        </p:xfrm>
        <a:graphic>
          <a:graphicData uri="http://schemas.openxmlformats.org/drawingml/2006/table">
            <a:tbl>
              <a:tblPr firstRow="1" bandRow="1">
                <a:noFill/>
                <a:tableStyleId>{6B51A9A8-51AB-4993-90A6-B98231175B78}</a:tableStyleId>
              </a:tblPr>
              <a:tblGrid>
                <a:gridCol w="2423795"/>
                <a:gridCol w="2262775"/>
                <a:gridCol w="2287500"/>
                <a:gridCol w="2163445"/>
                <a:gridCol w="1892705"/>
              </a:tblGrid>
              <a:tr h="592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10B981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Model</a:t>
                      </a:r>
                      <a:endParaRPr lang="en-US" sz="1350" b="1" i="0" u="none" strike="noStrike" cap="none">
                        <a:solidFill>
                          <a:srgbClr val="10B981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10B981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Input Resolution</a:t>
                      </a:r>
                      <a:endParaRPr lang="en-US" sz="1350" b="1" i="0" u="none" strike="noStrike" cap="none">
                        <a:solidFill>
                          <a:srgbClr val="10B981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10B981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Activation Mem.</a:t>
                      </a:r>
                      <a:endParaRPr lang="en-US" sz="1350" b="1" i="0" u="none" strike="noStrike" cap="none">
                        <a:solidFill>
                          <a:srgbClr val="10B981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10B981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Shared RAM Fit</a:t>
                      </a:r>
                      <a:endParaRPr lang="en-US" sz="1350" b="1" i="0" u="none" strike="noStrike" cap="none">
                        <a:solidFill>
                          <a:srgbClr val="10B981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10B981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mAP (COCO)</a:t>
                      </a:r>
                      <a:endParaRPr lang="en-US" sz="1350" b="1" i="0" u="none" strike="noStrike" cap="none">
                        <a:solidFill>
                          <a:srgbClr val="10B981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</a:tr>
              <a:tr h="592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YOLOX-Nano</a:t>
                      </a:r>
                      <a:endParaRPr lang="en-US" sz="1350" b="0" i="0" u="none" strike="noStrike" cap="none">
                        <a:solidFill>
                          <a:schemeClr val="tx1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416 x 416</a:t>
                      </a:r>
                      <a:endParaRPr lang="en-US" sz="1350" b="0" i="0" u="none" strike="noStrike" cap="none">
                        <a:solidFill>
                          <a:schemeClr val="tx1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~2-3 MB</a:t>
                      </a:r>
                      <a:endParaRPr lang="en-US" sz="1350" b="0" i="0" u="none" strike="noStrike" cap="none">
                        <a:solidFill>
                          <a:schemeClr val="tx1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0B981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FULL</a:t>
                      </a:r>
                      <a:endParaRPr lang="en-US" sz="1350" b="0" i="0" u="none" strike="noStrike" cap="none">
                        <a:solidFill>
                          <a:srgbClr val="10B981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25.8</a:t>
                      </a:r>
                      <a:endParaRPr lang="en-US" sz="1350" b="0" i="0" u="none" strike="noStrike" cap="none">
                        <a:solidFill>
                          <a:schemeClr val="tx1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592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YOLOX-Tiny</a:t>
                      </a:r>
                      <a:endParaRPr lang="en-US" sz="1350" b="0" i="0" u="none" strike="noStrike" cap="none">
                        <a:solidFill>
                          <a:schemeClr val="tx1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416 x 416</a:t>
                      </a:r>
                      <a:endParaRPr lang="en-US" sz="1350" b="0" i="0" u="none" strike="noStrike" cap="none">
                        <a:solidFill>
                          <a:schemeClr val="tx1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~3-4 MB</a:t>
                      </a:r>
                      <a:endParaRPr lang="en-US" sz="1350" b="0" i="0" u="none" strike="noStrike" cap="none">
                        <a:solidFill>
                          <a:schemeClr val="tx1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0B981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FULL</a:t>
                      </a:r>
                      <a:endParaRPr lang="en-US" sz="1350" b="0" i="0" u="none" strike="noStrike" cap="none">
                        <a:solidFill>
                          <a:srgbClr val="10B981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32.8</a:t>
                      </a:r>
                      <a:endParaRPr lang="en-US" sz="1350" b="0" i="0" u="none" strike="noStrike" cap="none">
                        <a:solidFill>
                          <a:schemeClr val="tx1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592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SSD-MobileNetV2</a:t>
                      </a:r>
                      <a:endParaRPr lang="en-US" sz="1350" b="0" i="0" u="none" strike="noStrike" cap="none">
                        <a:solidFill>
                          <a:schemeClr val="tx1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300 x 300</a:t>
                      </a:r>
                      <a:endParaRPr lang="en-US" sz="1350" b="0" i="0" u="none" strike="noStrike" cap="none">
                        <a:solidFill>
                          <a:schemeClr val="tx1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~3 MB</a:t>
                      </a:r>
                      <a:endParaRPr lang="en-US" sz="1350" b="0" i="0" u="none" strike="noStrike" cap="none">
                        <a:solidFill>
                          <a:schemeClr val="tx1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0B981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FULL</a:t>
                      </a:r>
                      <a:endParaRPr lang="en-US" sz="1350" b="0" i="0" u="none" strike="noStrike" cap="none">
                        <a:solidFill>
                          <a:srgbClr val="10B981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22.1</a:t>
                      </a:r>
                      <a:endParaRPr lang="en-US" sz="1350" b="0" i="0" u="none" strike="noStrike" cap="none">
                        <a:solidFill>
                          <a:schemeClr val="tx1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592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EfficientDet-Lite0</a:t>
                      </a:r>
                      <a:endParaRPr lang="en-US" sz="1350" b="0" i="0" u="none" strike="noStrike" cap="none">
                        <a:solidFill>
                          <a:schemeClr val="tx1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320 x 320</a:t>
                      </a:r>
                      <a:endParaRPr lang="en-US" sz="1350" b="0" i="0" u="none" strike="noStrike" cap="none">
                        <a:solidFill>
                          <a:schemeClr val="tx1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~3.4 MB</a:t>
                      </a:r>
                      <a:endParaRPr lang="en-US" sz="1350" b="0" i="0" u="none" strike="noStrike" cap="none">
                        <a:solidFill>
                          <a:schemeClr val="tx1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0B981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FULL</a:t>
                      </a:r>
                      <a:endParaRPr lang="en-US" sz="1350" b="0" i="0" u="none" strike="noStrike" cap="none">
                        <a:solidFill>
                          <a:srgbClr val="10B981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26.3</a:t>
                      </a:r>
                      <a:endParaRPr lang="en-US" sz="1350" b="0" i="0" u="none" strike="noStrike" cap="none">
                        <a:solidFill>
                          <a:schemeClr val="tx1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5921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YOLOX-S</a:t>
                      </a:r>
                      <a:endParaRPr lang="en-US" sz="1350" b="0" i="0" u="none" strike="noStrike" cap="none">
                        <a:solidFill>
                          <a:schemeClr val="tx1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640 x 640</a:t>
                      </a:r>
                      <a:endParaRPr lang="en-US" sz="1350" b="0" i="0" u="none" strike="noStrike" cap="none">
                        <a:solidFill>
                          <a:schemeClr val="tx1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6-8 MB</a:t>
                      </a:r>
                      <a:endParaRPr lang="en-US" sz="1350" b="0" i="0" u="none" strike="noStrike" cap="none">
                        <a:solidFill>
                          <a:schemeClr val="tx1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MARGINAL</a:t>
                      </a:r>
                      <a:endParaRPr lang="en-US" sz="1350" b="0" i="0" u="none" strike="noStrike" cap="none">
                        <a:solidFill>
                          <a:schemeClr val="accent6">
                            <a:lumMod val="75000"/>
                          </a:schemeClr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40.5</a:t>
                      </a:r>
                      <a:endParaRPr lang="en-US" sz="1350" b="0" i="0" u="none" strike="noStrike" cap="none">
                        <a:solidFill>
                          <a:schemeClr val="tx1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  <p:sp>
        <p:nvSpPr>
          <p:cNvPr id="246" name="Google Shape;246;p23"/>
          <p:cNvSpPr/>
          <p:nvPr/>
        </p:nvSpPr>
        <p:spPr>
          <a:xfrm>
            <a:off x="581025" y="2647950"/>
            <a:ext cx="2423517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47" name="Google Shape;247;p23"/>
          <p:cNvSpPr/>
          <p:nvPr/>
        </p:nvSpPr>
        <p:spPr>
          <a:xfrm>
            <a:off x="3004542" y="2647950"/>
            <a:ext cx="2262782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48" name="Google Shape;248;p23"/>
          <p:cNvSpPr/>
          <p:nvPr/>
        </p:nvSpPr>
        <p:spPr>
          <a:xfrm>
            <a:off x="5267325" y="2647950"/>
            <a:ext cx="2287488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49" name="Google Shape;249;p23"/>
          <p:cNvSpPr/>
          <p:nvPr/>
        </p:nvSpPr>
        <p:spPr>
          <a:xfrm>
            <a:off x="7554813" y="2647950"/>
            <a:ext cx="2163812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50" name="Google Shape;250;p23"/>
          <p:cNvSpPr/>
          <p:nvPr/>
        </p:nvSpPr>
        <p:spPr>
          <a:xfrm>
            <a:off x="9718625" y="2647950"/>
            <a:ext cx="1892349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51" name="Google Shape;251;p23"/>
          <p:cNvSpPr/>
          <p:nvPr/>
        </p:nvSpPr>
        <p:spPr>
          <a:xfrm>
            <a:off x="581025" y="3252787"/>
            <a:ext cx="2423517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52" name="Google Shape;252;p23"/>
          <p:cNvSpPr/>
          <p:nvPr/>
        </p:nvSpPr>
        <p:spPr>
          <a:xfrm>
            <a:off x="3004542" y="3252787"/>
            <a:ext cx="2262782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53" name="Google Shape;253;p23"/>
          <p:cNvSpPr/>
          <p:nvPr/>
        </p:nvSpPr>
        <p:spPr>
          <a:xfrm>
            <a:off x="5267325" y="3252787"/>
            <a:ext cx="2287488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54" name="Google Shape;254;p23"/>
          <p:cNvSpPr/>
          <p:nvPr/>
        </p:nvSpPr>
        <p:spPr>
          <a:xfrm>
            <a:off x="7554813" y="3252787"/>
            <a:ext cx="2163812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55" name="Google Shape;255;p23"/>
          <p:cNvSpPr/>
          <p:nvPr/>
        </p:nvSpPr>
        <p:spPr>
          <a:xfrm>
            <a:off x="9718625" y="3252787"/>
            <a:ext cx="1892349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56" name="Google Shape;256;p23"/>
          <p:cNvSpPr/>
          <p:nvPr/>
        </p:nvSpPr>
        <p:spPr>
          <a:xfrm>
            <a:off x="581025" y="3843337"/>
            <a:ext cx="2423517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57" name="Google Shape;257;p23"/>
          <p:cNvSpPr/>
          <p:nvPr/>
        </p:nvSpPr>
        <p:spPr>
          <a:xfrm>
            <a:off x="3004542" y="3843337"/>
            <a:ext cx="2262782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58" name="Google Shape;258;p23"/>
          <p:cNvSpPr/>
          <p:nvPr/>
        </p:nvSpPr>
        <p:spPr>
          <a:xfrm>
            <a:off x="5267325" y="3843337"/>
            <a:ext cx="2287488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59" name="Google Shape;259;p23"/>
          <p:cNvSpPr/>
          <p:nvPr/>
        </p:nvSpPr>
        <p:spPr>
          <a:xfrm>
            <a:off x="7554813" y="3843337"/>
            <a:ext cx="2163812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60" name="Google Shape;260;p23"/>
          <p:cNvSpPr/>
          <p:nvPr/>
        </p:nvSpPr>
        <p:spPr>
          <a:xfrm>
            <a:off x="9718625" y="3843337"/>
            <a:ext cx="1892349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61" name="Google Shape;261;p23"/>
          <p:cNvSpPr/>
          <p:nvPr/>
        </p:nvSpPr>
        <p:spPr>
          <a:xfrm>
            <a:off x="581025" y="4433887"/>
            <a:ext cx="2423517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62" name="Google Shape;262;p23"/>
          <p:cNvSpPr/>
          <p:nvPr/>
        </p:nvSpPr>
        <p:spPr>
          <a:xfrm>
            <a:off x="3004542" y="4433887"/>
            <a:ext cx="2262782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63" name="Google Shape;263;p23"/>
          <p:cNvSpPr/>
          <p:nvPr/>
        </p:nvSpPr>
        <p:spPr>
          <a:xfrm>
            <a:off x="5267325" y="4433887"/>
            <a:ext cx="2287488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64" name="Google Shape;264;p23"/>
          <p:cNvSpPr/>
          <p:nvPr/>
        </p:nvSpPr>
        <p:spPr>
          <a:xfrm>
            <a:off x="7554813" y="4433887"/>
            <a:ext cx="2163812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65" name="Google Shape;265;p23"/>
          <p:cNvSpPr/>
          <p:nvPr/>
        </p:nvSpPr>
        <p:spPr>
          <a:xfrm>
            <a:off x="9718625" y="4433887"/>
            <a:ext cx="1892349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66" name="Google Shape;266;p23"/>
          <p:cNvSpPr/>
          <p:nvPr/>
        </p:nvSpPr>
        <p:spPr>
          <a:xfrm>
            <a:off x="581025" y="5024437"/>
            <a:ext cx="2423517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67" name="Google Shape;267;p23"/>
          <p:cNvSpPr/>
          <p:nvPr/>
        </p:nvSpPr>
        <p:spPr>
          <a:xfrm>
            <a:off x="3004542" y="5024437"/>
            <a:ext cx="2262782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68" name="Google Shape;268;p23"/>
          <p:cNvSpPr/>
          <p:nvPr/>
        </p:nvSpPr>
        <p:spPr>
          <a:xfrm>
            <a:off x="5267325" y="5024437"/>
            <a:ext cx="2287488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69" name="Google Shape;269;p23"/>
          <p:cNvSpPr/>
          <p:nvPr/>
        </p:nvSpPr>
        <p:spPr>
          <a:xfrm>
            <a:off x="7554813" y="5024437"/>
            <a:ext cx="2163812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70" name="Google Shape;270;p23"/>
          <p:cNvSpPr/>
          <p:nvPr/>
        </p:nvSpPr>
        <p:spPr>
          <a:xfrm>
            <a:off x="9718625" y="5024437"/>
            <a:ext cx="1892349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71" name="Google Shape;271;p23"/>
          <p:cNvSpPr/>
          <p:nvPr/>
        </p:nvSpPr>
        <p:spPr>
          <a:xfrm>
            <a:off x="581025" y="5614987"/>
            <a:ext cx="2423517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72" name="Google Shape;272;p23"/>
          <p:cNvSpPr/>
          <p:nvPr/>
        </p:nvSpPr>
        <p:spPr>
          <a:xfrm>
            <a:off x="3004542" y="5614987"/>
            <a:ext cx="2262782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73" name="Google Shape;273;p23"/>
          <p:cNvSpPr/>
          <p:nvPr/>
        </p:nvSpPr>
        <p:spPr>
          <a:xfrm>
            <a:off x="5267325" y="5614987"/>
            <a:ext cx="2287488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74" name="Google Shape;274;p23"/>
          <p:cNvSpPr/>
          <p:nvPr/>
        </p:nvSpPr>
        <p:spPr>
          <a:xfrm>
            <a:off x="7554813" y="5614987"/>
            <a:ext cx="2163812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75" name="Google Shape;275;p23"/>
          <p:cNvSpPr/>
          <p:nvPr/>
        </p:nvSpPr>
        <p:spPr>
          <a:xfrm>
            <a:off x="9718625" y="5614987"/>
            <a:ext cx="1892349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76" name="Google Shape;276;p23"/>
          <p:cNvSpPr txBox="1"/>
          <p:nvPr/>
        </p:nvSpPr>
        <p:spPr>
          <a:xfrm>
            <a:off x="771525" y="581025"/>
            <a:ext cx="11381422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0B98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CANDIDATE MODEL BENCHMARKS</a:t>
            </a:r>
            <a:endParaRPr lang="en-US" sz="3000" b="1" i="0" u="none" strike="noStrike" cap="none">
              <a:solidFill>
                <a:srgbClr val="10B98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77" name="Google Shape;277;p23"/>
          <p:cNvSpPr/>
          <p:nvPr/>
        </p:nvSpPr>
        <p:spPr>
          <a:xfrm>
            <a:off x="581025" y="581025"/>
            <a:ext cx="57150" cy="466725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2" name="Google Shape;282;p24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24"/>
          <p:cNvSpPr/>
          <p:nvPr/>
        </p:nvSpPr>
        <p:spPr>
          <a:xfrm>
            <a:off x="1699021" y="3995737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 w="3810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4" name="Google Shape;284;p24"/>
          <p:cNvSpPr/>
          <p:nvPr/>
        </p:nvSpPr>
        <p:spPr>
          <a:xfrm>
            <a:off x="4566791" y="3995737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 w="3810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5" name="Google Shape;285;p24"/>
          <p:cNvSpPr/>
          <p:nvPr/>
        </p:nvSpPr>
        <p:spPr>
          <a:xfrm>
            <a:off x="7434560" y="3995737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 w="3810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6" name="Google Shape;286;p24"/>
          <p:cNvSpPr/>
          <p:nvPr/>
        </p:nvSpPr>
        <p:spPr>
          <a:xfrm>
            <a:off x="10302329" y="3995737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 w="3810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7" name="Google Shape;287;p24"/>
          <p:cNvSpPr/>
          <p:nvPr/>
        </p:nvSpPr>
        <p:spPr>
          <a:xfrm>
            <a:off x="581025" y="4071937"/>
            <a:ext cx="11029950" cy="381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8" name="Google Shape;288;p24"/>
          <p:cNvSpPr txBox="1"/>
          <p:nvPr/>
        </p:nvSpPr>
        <p:spPr>
          <a:xfrm>
            <a:off x="520362" y="4555033"/>
            <a:ext cx="2547818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5" b="1" i="0" u="none" strike="noStrike" cap="none">
                <a:solidFill>
                  <a:srgbClr val="10B98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W1-2</a:t>
            </a:r>
            <a:endParaRPr lang="en-US" sz="1405" b="1" i="0" u="none" strike="noStrike" cap="none">
              <a:solidFill>
                <a:srgbClr val="10B98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89" name="Google Shape;289;p24"/>
          <p:cNvSpPr txBox="1"/>
          <p:nvPr/>
        </p:nvSpPr>
        <p:spPr>
          <a:xfrm>
            <a:off x="581025" y="4952404"/>
            <a:ext cx="2426493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Setup &amp; Baseline Selection</a:t>
            </a:r>
            <a:endParaRPr lang="en-US" sz="1500" b="0" i="0" u="none" strike="noStrike" cap="none">
              <a:solidFill>
                <a:srgbClr val="94A3B8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90" name="Google Shape;290;p24"/>
          <p:cNvSpPr txBox="1"/>
          <p:nvPr/>
        </p:nvSpPr>
        <p:spPr>
          <a:xfrm>
            <a:off x="3388131" y="2645866"/>
            <a:ext cx="2547818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5" b="1" i="0" u="none" strike="noStrike" cap="none">
                <a:solidFill>
                  <a:srgbClr val="10B98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W3-4</a:t>
            </a:r>
            <a:endParaRPr lang="en-US" sz="1405" b="1" i="0" u="none" strike="noStrike" cap="none">
              <a:solidFill>
                <a:srgbClr val="10B98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91" name="Google Shape;291;p24"/>
          <p:cNvSpPr txBox="1"/>
          <p:nvPr/>
        </p:nvSpPr>
        <p:spPr>
          <a:xfrm>
            <a:off x="3448794" y="3043237"/>
            <a:ext cx="2426493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Quantization &amp; TIDL Import</a:t>
            </a:r>
            <a:endParaRPr lang="en-US" sz="1500" b="0" i="0" u="none" strike="noStrike" cap="none">
              <a:solidFill>
                <a:srgbClr val="94A3B8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92" name="Google Shape;292;p24"/>
          <p:cNvSpPr txBox="1"/>
          <p:nvPr/>
        </p:nvSpPr>
        <p:spPr>
          <a:xfrm>
            <a:off x="6255900" y="4555033"/>
            <a:ext cx="2547818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5" b="1" i="0" u="none" strike="noStrike" cap="none">
                <a:solidFill>
                  <a:srgbClr val="10B98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W5-6</a:t>
            </a:r>
            <a:endParaRPr lang="en-US" sz="1405" b="1" i="0" u="none" strike="noStrike" cap="none">
              <a:solidFill>
                <a:srgbClr val="10B98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93" name="Google Shape;293;p24"/>
          <p:cNvSpPr txBox="1"/>
          <p:nvPr/>
        </p:nvSpPr>
        <p:spPr>
          <a:xfrm>
            <a:off x="6316563" y="4952404"/>
            <a:ext cx="2426493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Pipeline &amp; DMA Integration</a:t>
            </a:r>
            <a:endParaRPr lang="en-US" sz="1500" b="0" i="0" u="none" strike="noStrike" cap="none">
              <a:solidFill>
                <a:srgbClr val="94A3B8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94" name="Google Shape;294;p24"/>
          <p:cNvSpPr txBox="1"/>
          <p:nvPr/>
        </p:nvSpPr>
        <p:spPr>
          <a:xfrm>
            <a:off x="9123670" y="2931616"/>
            <a:ext cx="2547818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5" b="1" i="0" u="none" strike="noStrike" cap="none">
                <a:solidFill>
                  <a:srgbClr val="10B98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W7-8</a:t>
            </a:r>
            <a:endParaRPr lang="en-US" sz="1405" b="1" i="0" u="none" strike="noStrike" cap="none">
              <a:solidFill>
                <a:srgbClr val="10B98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95" name="Google Shape;295;p24"/>
          <p:cNvSpPr txBox="1"/>
          <p:nvPr/>
        </p:nvSpPr>
        <p:spPr>
          <a:xfrm>
            <a:off x="9184332" y="3328987"/>
            <a:ext cx="2426493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Profiling &amp; Optimization</a:t>
            </a:r>
            <a:endParaRPr lang="en-US" sz="1500" b="0" i="0" u="none" strike="noStrike" cap="none">
              <a:solidFill>
                <a:srgbClr val="94A3B8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96" name="Google Shape;296;p24"/>
          <p:cNvSpPr txBox="1"/>
          <p:nvPr/>
        </p:nvSpPr>
        <p:spPr>
          <a:xfrm>
            <a:off x="771525" y="581025"/>
            <a:ext cx="11381422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0B98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IMPLEMENTATION TIMELINE</a:t>
            </a:r>
            <a:endParaRPr lang="en-US" sz="3000" b="1" i="0" u="none" strike="noStrike" cap="none">
              <a:solidFill>
                <a:srgbClr val="10B98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97" name="Google Shape;297;p24"/>
          <p:cNvSpPr/>
          <p:nvPr/>
        </p:nvSpPr>
        <p:spPr>
          <a:xfrm>
            <a:off x="581025" y="581025"/>
            <a:ext cx="57150" cy="466725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2" name="Google Shape;302;p25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3" name="Google Shape;303;p25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81025" y="1428750"/>
            <a:ext cx="11029950" cy="4848225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p25"/>
          <p:cNvSpPr txBox="1"/>
          <p:nvPr/>
        </p:nvSpPr>
        <p:spPr>
          <a:xfrm>
            <a:off x="581025" y="4352925"/>
            <a:ext cx="110299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94A3B8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Success Metrics:</a:t>
            </a:r>
            <a:r>
              <a:rPr lang="en-US" sz="1500" b="0" i="0" u="none" strike="noStrike" cap="none">
                <a:solidFill>
                  <a:srgbClr val="94A3B8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End-to-End Latency (ms), Throughput (FPS), Detection Accuracy (mAP), and Memory/Transfer Efficiency.</a:t>
            </a:r>
            <a:endParaRPr lang="en-US" sz="1500" b="0" i="0" u="none" strike="noStrike" cap="none">
              <a:solidFill>
                <a:srgbClr val="94A3B8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05" name="Google Shape;305;p25"/>
          <p:cNvSpPr txBox="1"/>
          <p:nvPr/>
        </p:nvSpPr>
        <p:spPr>
          <a:xfrm>
            <a:off x="771525" y="581025"/>
            <a:ext cx="11381422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0B98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EVALUATION FRAMEWORK</a:t>
            </a:r>
            <a:endParaRPr lang="en-US" sz="3000" b="1" i="0" u="none" strike="noStrike" cap="none">
              <a:solidFill>
                <a:srgbClr val="10B98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06" name="Google Shape;306;p25"/>
          <p:cNvSpPr/>
          <p:nvPr/>
        </p:nvSpPr>
        <p:spPr>
          <a:xfrm>
            <a:off x="581025" y="581025"/>
            <a:ext cx="57150" cy="466725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26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26"/>
          <p:cNvSpPr txBox="1"/>
          <p:nvPr/>
        </p:nvSpPr>
        <p:spPr>
          <a:xfrm>
            <a:off x="305276" y="2214562"/>
            <a:ext cx="11581447" cy="923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F8FAFC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Questions &amp; Discussion</a:t>
            </a:r>
            <a:endParaRPr lang="en-US" sz="6000" b="1" i="0" u="none" strike="noStrike" cap="none">
              <a:solidFill>
                <a:srgbClr val="F8FAFC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13" name="Google Shape;313;p26"/>
          <p:cNvSpPr txBox="1"/>
          <p:nvPr/>
        </p:nvSpPr>
        <p:spPr>
          <a:xfrm>
            <a:off x="581025" y="3138487"/>
            <a:ext cx="110299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Thank you for your attention.</a:t>
            </a:r>
            <a:endParaRPr lang="en-US" sz="1500" b="0" i="0" u="none" strike="noStrike" cap="none">
              <a:solidFill>
                <a:srgbClr val="94A3B8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14" name="Google Shape;314;p26"/>
          <p:cNvSpPr/>
          <p:nvPr/>
        </p:nvSpPr>
        <p:spPr>
          <a:xfrm>
            <a:off x="5381625" y="3900487"/>
            <a:ext cx="1428750" cy="5715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15" name="Google Shape;315;p26"/>
          <p:cNvSpPr txBox="1"/>
          <p:nvPr/>
        </p:nvSpPr>
        <p:spPr>
          <a:xfrm>
            <a:off x="581025" y="4243387"/>
            <a:ext cx="1102995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4748B"/>
                </a:solidFill>
                <a:latin typeface="JetBrains Mono" panose="02000009000000000000"/>
                <a:ea typeface="JetBrains Mono" panose="02000009000000000000"/>
                <a:cs typeface="JetBrains Mono" panose="02000009000000000000"/>
                <a:sym typeface="JetBrains Mono" panose="02000009000000000000"/>
              </a:rPr>
              <a:t>Optimization of a Heterogeneous Edge AI Inference Pipeline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200" b="0" i="0" u="none" strike="noStrike" cap="none">
                <a:solidFill>
                  <a:srgbClr val="64748B"/>
                </a:solidFill>
                <a:latin typeface="JetBrains Mono" panose="02000009000000000000"/>
                <a:ea typeface="JetBrains Mono" panose="02000009000000000000"/>
                <a:cs typeface="JetBrains Mono" panose="02000009000000000000"/>
                <a:sym typeface="JetBrains Mono" panose="02000009000000000000"/>
              </a:rPr>
              <a:t> Istanbul Technical University | Hacettepe University</a:t>
            </a:r>
            <a:endParaRPr lang="en-US" sz="1200" b="0" i="0" u="none" strike="noStrike" cap="none">
              <a:solidFill>
                <a:srgbClr val="64748B"/>
              </a:solidFill>
              <a:latin typeface="JetBrains Mono" panose="02000009000000000000"/>
              <a:ea typeface="JetBrains Mono" panose="02000009000000000000"/>
              <a:cs typeface="JetBrains Mono" panose="02000009000000000000"/>
              <a:sym typeface="JetBrains Mono" panose="0200000900000000000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0" name="Google Shape;320;p27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1" name="Google Shape;321;p27"/>
          <p:cNvSpPr/>
          <p:nvPr/>
        </p:nvSpPr>
        <p:spPr>
          <a:xfrm>
            <a:off x="581025" y="2700337"/>
            <a:ext cx="1102995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22" name="Google Shape;322;p27"/>
          <p:cNvSpPr/>
          <p:nvPr/>
        </p:nvSpPr>
        <p:spPr>
          <a:xfrm>
            <a:off x="581025" y="3471862"/>
            <a:ext cx="1102995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23" name="Google Shape;323;p27"/>
          <p:cNvSpPr txBox="1"/>
          <p:nvPr/>
        </p:nvSpPr>
        <p:spPr>
          <a:xfrm>
            <a:off x="342900" y="2700337"/>
            <a:ext cx="1905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0B98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→</a:t>
            </a:r>
            <a:endParaRPr lang="en-US" sz="1500" b="1" i="0" u="none" strike="noStrike" cap="none">
              <a:solidFill>
                <a:srgbClr val="10B98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24" name="Google Shape;324;p27"/>
          <p:cNvSpPr/>
          <p:nvPr/>
        </p:nvSpPr>
        <p:spPr>
          <a:xfrm>
            <a:off x="581025" y="3462337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25" name="Google Shape;325;p27"/>
          <p:cNvSpPr/>
          <p:nvPr/>
        </p:nvSpPr>
        <p:spPr>
          <a:xfrm>
            <a:off x="581025" y="3462337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26" name="Google Shape;326;p27"/>
          <p:cNvSpPr txBox="1"/>
          <p:nvPr/>
        </p:nvSpPr>
        <p:spPr>
          <a:xfrm>
            <a:off x="342900" y="3471862"/>
            <a:ext cx="1905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0B98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→</a:t>
            </a:r>
            <a:endParaRPr lang="en-US" sz="1500" b="1" i="0" u="none" strike="noStrike" cap="none">
              <a:solidFill>
                <a:srgbClr val="10B98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27" name="Google Shape;327;p27"/>
          <p:cNvSpPr/>
          <p:nvPr/>
        </p:nvSpPr>
        <p:spPr>
          <a:xfrm>
            <a:off x="581025" y="4233862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28" name="Google Shape;328;p27"/>
          <p:cNvSpPr/>
          <p:nvPr/>
        </p:nvSpPr>
        <p:spPr>
          <a:xfrm>
            <a:off x="581025" y="4233862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29" name="Google Shape;329;p27"/>
          <p:cNvSpPr txBox="1"/>
          <p:nvPr/>
        </p:nvSpPr>
        <p:spPr>
          <a:xfrm>
            <a:off x="342900" y="4243387"/>
            <a:ext cx="1905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0B98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→</a:t>
            </a:r>
            <a:endParaRPr lang="en-US" sz="1500" b="1" i="0" u="none" strike="noStrike" cap="none">
              <a:solidFill>
                <a:srgbClr val="10B98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pic>
        <p:nvPicPr>
          <p:cNvPr id="330" name="Google Shape;330;p27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81025" y="2843212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31" name="Google Shape;331;p27"/>
          <p:cNvSpPr txBox="1"/>
          <p:nvPr/>
        </p:nvSpPr>
        <p:spPr>
          <a:xfrm>
            <a:off x="1676400" y="2850356"/>
            <a:ext cx="9934575" cy="185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BD5E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https://www.ti.com/ds_dgm/images/fbd_sprsp36k.gif</a:t>
            </a:r>
            <a:endParaRPr lang="en-US" sz="975" b="0" i="0" u="none" strike="noStrike" cap="none">
              <a:solidFill>
                <a:srgbClr val="CBD5E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32" name="Google Shape;332;p27"/>
          <p:cNvSpPr txBox="1"/>
          <p:nvPr/>
        </p:nvSpPr>
        <p:spPr>
          <a:xfrm>
            <a:off x="1676400" y="3083718"/>
            <a:ext cx="993457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www.ti.com</a:t>
            </a:r>
            <a:endParaRPr lang="en-US" sz="1200" b="0" i="0" u="none" strike="noStrike" cap="none">
              <a:solidFill>
                <a:srgbClr val="4F46E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pic>
        <p:nvPicPr>
          <p:cNvPr id="333" name="Google Shape;333;p27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81025" y="3614737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34" name="Google Shape;334;p27"/>
          <p:cNvSpPr txBox="1"/>
          <p:nvPr/>
        </p:nvSpPr>
        <p:spPr>
          <a:xfrm>
            <a:off x="1676400" y="3621881"/>
            <a:ext cx="9934575" cy="185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BD5E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https://www.embedded.com/embedded/wp-content/uploads/sites/2/2022/11/Edge-AI-applicance-Graphic2.jpg</a:t>
            </a:r>
            <a:endParaRPr lang="en-US" sz="975" b="0" i="0" u="none" strike="noStrike" cap="none">
              <a:solidFill>
                <a:srgbClr val="CBD5E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35" name="Google Shape;335;p27"/>
          <p:cNvSpPr txBox="1"/>
          <p:nvPr/>
        </p:nvSpPr>
        <p:spPr>
          <a:xfrm>
            <a:off x="1676400" y="3855243"/>
            <a:ext cx="993457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www.embedded.com</a:t>
            </a:r>
            <a:endParaRPr lang="en-US" sz="1200" b="0" i="0" u="none" strike="noStrike" cap="none">
              <a:solidFill>
                <a:srgbClr val="4F46E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pic>
        <p:nvPicPr>
          <p:cNvPr id="336" name="Google Shape;336;p27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581025" y="4386262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27"/>
          <p:cNvSpPr txBox="1"/>
          <p:nvPr/>
        </p:nvSpPr>
        <p:spPr>
          <a:xfrm>
            <a:off x="1676400" y="4393406"/>
            <a:ext cx="9934575" cy="185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BD5E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https://developer-blogs.nvidia.com/wp-content/uploads/2021/07/8-bit-signed-integer-quantization.png</a:t>
            </a:r>
            <a:endParaRPr lang="en-US" sz="975" b="0" i="0" u="none" strike="noStrike" cap="none">
              <a:solidFill>
                <a:srgbClr val="CBD5E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38" name="Google Shape;338;p27"/>
          <p:cNvSpPr txBox="1"/>
          <p:nvPr/>
        </p:nvSpPr>
        <p:spPr>
          <a:xfrm>
            <a:off x="1676400" y="4626768"/>
            <a:ext cx="993457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developer.nvidia.com</a:t>
            </a:r>
            <a:endParaRPr lang="en-US" sz="1200" b="0" i="0" u="none" strike="noStrike" cap="none">
              <a:solidFill>
                <a:srgbClr val="4F46E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39" name="Google Shape;339;p27"/>
          <p:cNvSpPr txBox="1"/>
          <p:nvPr/>
        </p:nvSpPr>
        <p:spPr>
          <a:xfrm>
            <a:off x="771525" y="581025"/>
            <a:ext cx="11381422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0B98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IMAGE SOURCES</a:t>
            </a:r>
            <a:endParaRPr lang="en-US" sz="3000" b="1" i="0" u="none" strike="noStrike" cap="none">
              <a:solidFill>
                <a:srgbClr val="10B98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40" name="Google Shape;340;p27"/>
          <p:cNvSpPr/>
          <p:nvPr/>
        </p:nvSpPr>
        <p:spPr>
          <a:xfrm>
            <a:off x="581025" y="581025"/>
            <a:ext cx="57150" cy="466725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4097</Words>
  <Application>WPS Presentation</Application>
  <PresentationFormat/>
  <Paragraphs>264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6" baseType="lpstr">
      <vt:lpstr>Arial</vt:lpstr>
      <vt:lpstr>SimSun</vt:lpstr>
      <vt:lpstr>Wingdings</vt:lpstr>
      <vt:lpstr>Arial</vt:lpstr>
      <vt:lpstr>Calibri</vt:lpstr>
      <vt:lpstr>Inter SemiBold</vt:lpstr>
      <vt:lpstr>Inter</vt:lpstr>
      <vt:lpstr>JetBrains Mono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Emre</cp:lastModifiedBy>
  <cp:revision>2</cp:revision>
  <dcterms:created xsi:type="dcterms:W3CDTF">2026-04-14T20:41:32Z</dcterms:created>
  <dcterms:modified xsi:type="dcterms:W3CDTF">2026-04-14T21:42:51Z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E4FDD17B2A944F8F9B7FAAC26ABF6A46_12</vt:lpwstr>
  </property>
  <property fmtid="{D5CDD505-2E9C-101B-9397-08002B2CF9AE}" pid="3" name="KSOProductBuildVer">
    <vt:lpwstr>1033-12.1.0.25242</vt:lpwstr>
  </property>
</Properties>
</file>