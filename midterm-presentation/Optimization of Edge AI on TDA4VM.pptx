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4" r:id="rId9"/>
    <p:sldId id="265" r:id="rId10"/>
    <p:sldId id="263" r:id="rId11"/>
    <p:sldId id="262" r:id="rId12"/>
    <p:sldId id="272" r:id="rId13"/>
    <p:sldId id="266" r:id="rId14"/>
    <p:sldId id="267" r:id="rId15"/>
    <p:sldId id="273" r:id="rId16"/>
    <p:sldId id="269" r:id="rId17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  <p:bold r:id="rId24"/>
      <p:italic r:id="rId25"/>
    </p:embeddedFont>
    <p:embeddedFont>
      <p:font typeface="Inter SemiBold" panose="020B0604020202020204" charset="0"/>
      <p:regular r:id="rId26"/>
      <p:bold r:id="rId27"/>
      <p:italic r:id="rId28"/>
    </p:embeddedFont>
    <p:embeddedFont>
      <p:font typeface="JetBrains Mono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B51A9A8-51AB-4993-90A6-B98231175B78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632de25db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d632de25db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632de25db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3d632de25db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632de25db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d632de25db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1099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9727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8898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9251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625054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GRADUATE RESEARCH PRESENTATION</a:t>
            </a:r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2158454"/>
            <a:ext cx="11581447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Optimization of a Heterogeneous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4800" b="1" i="0" u="none" strike="noStrike" cap="none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Edge AI Inference Pipeline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3975645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0B981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TDA4VM SoC | C7x DSP | Quantization</a:t>
            </a:r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832895"/>
            <a:ext cx="11029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Emre Doğan &amp; Yavuz Selim Kızıltaş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5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Istanbul Technical University | Hacettepe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381625" y="2190750"/>
            <a:ext cx="142875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05276" y="2533650"/>
            <a:ext cx="11581447" cy="184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I. INTRODUCTION &amp; PROBLEM</a:t>
            </a:r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43815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Deploying real-time vision on low-power hardware requires deep optimization beyond simple model conversion.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9199-5600-4F5C-9E7C-62F2DF3204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C22EB-1C3D-4E0A-8931-BFDECD4035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Google Shape;101;p15" descr="image.png">
            <a:extLst>
              <a:ext uri="{FF2B5EF4-FFF2-40B4-BE49-F238E27FC236}">
                <a16:creationId xmlns:a16="http://schemas.microsoft.com/office/drawing/2014/main" id="{C0364DC6-6287-4B8C-B614-BF75F9342088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1;p15" descr="image.png">
            <a:extLst>
              <a:ext uri="{FF2B5EF4-FFF2-40B4-BE49-F238E27FC236}">
                <a16:creationId xmlns:a16="http://schemas.microsoft.com/office/drawing/2014/main" id="{5D3526E9-6FD7-48BE-AA30-A4F29E4CFF45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03;p15">
            <a:extLst>
              <a:ext uri="{FF2B5EF4-FFF2-40B4-BE49-F238E27FC236}">
                <a16:creationId xmlns:a16="http://schemas.microsoft.com/office/drawing/2014/main" id="{B265E4AF-73DA-4DEB-9032-0240D0063B75}"/>
              </a:ext>
            </a:extLst>
          </p:cNvPr>
          <p:cNvSpPr txBox="1"/>
          <p:nvPr/>
        </p:nvSpPr>
        <p:spPr>
          <a:xfrm>
            <a:off x="581025" y="1339500"/>
            <a:ext cx="562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TDA4VM integrates specialized processing cores </a:t>
            </a:r>
            <a:r>
              <a:rPr lang="en-US" sz="150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</a:p>
        </p:txBody>
      </p:sp>
      <p:sp>
        <p:nvSpPr>
          <p:cNvPr id="9" name="Google Shape;104;p15">
            <a:extLst>
              <a:ext uri="{FF2B5EF4-FFF2-40B4-BE49-F238E27FC236}">
                <a16:creationId xmlns:a16="http://schemas.microsoft.com/office/drawing/2014/main" id="{AF17BA5D-FC6D-4FD5-9EA1-3B316FFE9239}"/>
              </a:ext>
            </a:extLst>
          </p:cNvPr>
          <p:cNvSpPr txBox="1"/>
          <p:nvPr/>
        </p:nvSpPr>
        <p:spPr>
          <a:xfrm>
            <a:off x="819149" y="2004117"/>
            <a:ext cx="117338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tr-TR" sz="1800" b="1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Hardware </a:t>
            </a:r>
            <a:r>
              <a:rPr lang="tr-TR" sz="1800" b="1" i="0" u="none" strike="noStrike" cap="none" dirty="0" err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Constraints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  <a:r>
              <a:rPr lang="en-US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On-chip shared memory capacity</a:t>
            </a:r>
          </a:p>
          <a:p>
            <a:pPr lvl="0">
              <a:lnSpc>
                <a:spcPct val="140000"/>
              </a:lnSpc>
            </a:pPr>
            <a:r>
              <a:rPr lang="en-US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is limited, and DDR bandwidth can become a</a:t>
            </a:r>
            <a:r>
              <a:rPr lang="tr-TR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bottleneck for large tensor transfers.</a:t>
            </a:r>
            <a:endParaRPr lang="tr-TR" sz="1800" dirty="0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" name="Google Shape;105;p15">
            <a:extLst>
              <a:ext uri="{FF2B5EF4-FFF2-40B4-BE49-F238E27FC236}">
                <a16:creationId xmlns:a16="http://schemas.microsoft.com/office/drawing/2014/main" id="{1EA0F0CF-BC73-4A19-84C1-80945D86634C}"/>
              </a:ext>
            </a:extLst>
          </p:cNvPr>
          <p:cNvSpPr txBox="1"/>
          <p:nvPr/>
        </p:nvSpPr>
        <p:spPr>
          <a:xfrm>
            <a:off x="819149" y="4191747"/>
            <a:ext cx="10064873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tr-TR" sz="1800" b="1" i="0" u="none" strike="noStrike" cap="none" dirty="0" err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Accuracy</a:t>
            </a:r>
            <a:r>
              <a:rPr lang="tr-TR" sz="1800" b="1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800" b="1" i="0" u="none" strike="noStrike" cap="none" dirty="0" err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Constraints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quantized model should</a:t>
            </a:r>
            <a:r>
              <a:rPr lang="tr-TR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remain close to the FP32 baseline in terms of detection</a:t>
            </a:r>
            <a:r>
              <a:rPr lang="tr-TR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accuracy.</a:t>
            </a:r>
            <a:endParaRPr sz="1700" dirty="0"/>
          </a:p>
        </p:txBody>
      </p:sp>
      <p:sp>
        <p:nvSpPr>
          <p:cNvPr id="11" name="Google Shape;106;p15">
            <a:extLst>
              <a:ext uri="{FF2B5EF4-FFF2-40B4-BE49-F238E27FC236}">
                <a16:creationId xmlns:a16="http://schemas.microsoft.com/office/drawing/2014/main" id="{0B1136E9-A522-45C9-BA1A-7E53BA2F78BD}"/>
              </a:ext>
            </a:extLst>
          </p:cNvPr>
          <p:cNvSpPr txBox="1"/>
          <p:nvPr/>
        </p:nvSpPr>
        <p:spPr>
          <a:xfrm>
            <a:off x="819149" y="5169261"/>
            <a:ext cx="986068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1800" b="1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Real-Time Constraints::</a:t>
            </a:r>
            <a:r>
              <a:rPr lang="en-US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The pipeline should satisfy</a:t>
            </a:r>
            <a:r>
              <a:rPr lang="tr-TR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deterministic timing requirements and avoid memory-related delays.</a:t>
            </a:r>
            <a:endParaRPr sz="1700" dirty="0"/>
          </a:p>
        </p:txBody>
      </p:sp>
      <p:sp>
        <p:nvSpPr>
          <p:cNvPr id="12" name="Google Shape;107;p15">
            <a:extLst>
              <a:ext uri="{FF2B5EF4-FFF2-40B4-BE49-F238E27FC236}">
                <a16:creationId xmlns:a16="http://schemas.microsoft.com/office/drawing/2014/main" id="{3CE58E7C-F3C3-40D2-A33D-94682AB17C9D}"/>
              </a:ext>
            </a:extLst>
          </p:cNvPr>
          <p:cNvSpPr txBox="1"/>
          <p:nvPr/>
        </p:nvSpPr>
        <p:spPr>
          <a:xfrm>
            <a:off x="581013" y="2028704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  <p:sp>
        <p:nvSpPr>
          <p:cNvPr id="13" name="Google Shape;108;p15">
            <a:extLst>
              <a:ext uri="{FF2B5EF4-FFF2-40B4-BE49-F238E27FC236}">
                <a16:creationId xmlns:a16="http://schemas.microsoft.com/office/drawing/2014/main" id="{CD778AF3-3D61-4038-8859-E1ADBB881A81}"/>
              </a:ext>
            </a:extLst>
          </p:cNvPr>
          <p:cNvSpPr txBox="1"/>
          <p:nvPr/>
        </p:nvSpPr>
        <p:spPr>
          <a:xfrm>
            <a:off x="581013" y="4174154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  <p:sp>
        <p:nvSpPr>
          <p:cNvPr id="14" name="Google Shape;109;p15">
            <a:extLst>
              <a:ext uri="{FF2B5EF4-FFF2-40B4-BE49-F238E27FC236}">
                <a16:creationId xmlns:a16="http://schemas.microsoft.com/office/drawing/2014/main" id="{BA8DC0A0-2D2C-4D35-BC30-15B49903028D}"/>
              </a:ext>
            </a:extLst>
          </p:cNvPr>
          <p:cNvSpPr txBox="1"/>
          <p:nvPr/>
        </p:nvSpPr>
        <p:spPr>
          <a:xfrm>
            <a:off x="581013" y="5169261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  <p:sp>
        <p:nvSpPr>
          <p:cNvPr id="15" name="Google Shape;110;p15">
            <a:extLst>
              <a:ext uri="{FF2B5EF4-FFF2-40B4-BE49-F238E27FC236}">
                <a16:creationId xmlns:a16="http://schemas.microsoft.com/office/drawing/2014/main" id="{59552BD9-495A-4617-8497-3E819D3FE613}"/>
              </a:ext>
            </a:extLst>
          </p:cNvPr>
          <p:cNvSpPr txBox="1"/>
          <p:nvPr/>
        </p:nvSpPr>
        <p:spPr>
          <a:xfrm>
            <a:off x="771525" y="581025"/>
            <a:ext cx="1138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 b="1" i="0" u="none" strike="noStrike" cap="none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CONSTRAINTS</a:t>
            </a:r>
            <a:endParaRPr lang="en-US" sz="3000" b="1" i="0" u="none" strike="noStrike" cap="none" dirty="0">
              <a:solidFill>
                <a:srgbClr val="10B98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" name="Google Shape;111;p15">
            <a:extLst>
              <a:ext uri="{FF2B5EF4-FFF2-40B4-BE49-F238E27FC236}">
                <a16:creationId xmlns:a16="http://schemas.microsoft.com/office/drawing/2014/main" id="{0489130B-6D4B-46CB-8A17-E2DBAC6E8E82}"/>
              </a:ext>
            </a:extLst>
          </p:cNvPr>
          <p:cNvSpPr/>
          <p:nvPr/>
        </p:nvSpPr>
        <p:spPr>
          <a:xfrm>
            <a:off x="581025" y="581025"/>
            <a:ext cx="57300" cy="466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" name="Google Shape;113;p15">
            <a:extLst>
              <a:ext uri="{FF2B5EF4-FFF2-40B4-BE49-F238E27FC236}">
                <a16:creationId xmlns:a16="http://schemas.microsoft.com/office/drawing/2014/main" id="{448AD78B-0ABD-4032-A92A-CA78D859AAC0}"/>
              </a:ext>
            </a:extLst>
          </p:cNvPr>
          <p:cNvSpPr txBox="1"/>
          <p:nvPr/>
        </p:nvSpPr>
        <p:spPr>
          <a:xfrm>
            <a:off x="819149" y="3086719"/>
            <a:ext cx="1102691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tr-TR" sz="1800" b="1" dirty="0" err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Toolchain</a:t>
            </a:r>
            <a:r>
              <a:rPr lang="tr-TR" sz="1800" b="1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800" b="1" dirty="0" err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Constraints</a:t>
            </a:r>
            <a:r>
              <a:rPr lang="tr-TR" sz="1800" b="1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 </a:t>
            </a:r>
            <a:r>
              <a:rPr lang="en-US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Model deployment relies on the</a:t>
            </a:r>
            <a:r>
              <a:rPr lang="tr-TR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TIDL toolkit and TI Processor SDK, which support a</a:t>
            </a:r>
            <a:r>
              <a:rPr lang="tr-TR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defined subset of neural network operators in optimized</a:t>
            </a:r>
            <a:r>
              <a:rPr lang="tr-TR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8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INT8 mode</a:t>
            </a:r>
            <a:endParaRPr sz="1700" dirty="0"/>
          </a:p>
        </p:txBody>
      </p:sp>
      <p:sp>
        <p:nvSpPr>
          <p:cNvPr id="19" name="Google Shape;114;p15">
            <a:extLst>
              <a:ext uri="{FF2B5EF4-FFF2-40B4-BE49-F238E27FC236}">
                <a16:creationId xmlns:a16="http://schemas.microsoft.com/office/drawing/2014/main" id="{8FEC90AA-448F-448F-BC4E-7651A688E6D7}"/>
              </a:ext>
            </a:extLst>
          </p:cNvPr>
          <p:cNvSpPr txBox="1"/>
          <p:nvPr/>
        </p:nvSpPr>
        <p:spPr>
          <a:xfrm>
            <a:off x="581013" y="3140500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13484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34125" y="1171750"/>
            <a:ext cx="4953825" cy="54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81025" y="1339500"/>
            <a:ext cx="562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TDA4VM integrates specialized processing cores </a:t>
            </a:r>
            <a:r>
              <a:rPr lang="en-US" sz="150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</a:p>
        </p:txBody>
      </p:sp>
      <p:sp>
        <p:nvSpPr>
          <p:cNvPr id="104" name="Google Shape;104;p15"/>
          <p:cNvSpPr txBox="1"/>
          <p:nvPr/>
        </p:nvSpPr>
        <p:spPr>
          <a:xfrm>
            <a:off x="819150" y="1862262"/>
            <a:ext cx="50388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ARM Cortex-A72: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Dual-core </a:t>
            </a:r>
            <a:r>
              <a:rPr lang="en-US" sz="18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64-bit Arm Cortex-A72 microprocessor subsystem at up to 2.0GHz</a:t>
            </a:r>
            <a:endParaRPr sz="1700"/>
          </a:p>
        </p:txBody>
      </p:sp>
      <p:sp>
        <p:nvSpPr>
          <p:cNvPr id="105" name="Google Shape;105;p15"/>
          <p:cNvSpPr txBox="1"/>
          <p:nvPr/>
        </p:nvSpPr>
        <p:spPr>
          <a:xfrm>
            <a:off x="819150" y="4092100"/>
            <a:ext cx="50388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C7x DSP: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8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floating point, vector DSP, up to 1.0GHz, 80 GFLOPS, 256 GOPS</a:t>
            </a:r>
            <a:endParaRPr sz="1700"/>
          </a:p>
        </p:txBody>
      </p:sp>
      <p:sp>
        <p:nvSpPr>
          <p:cNvPr id="106" name="Google Shape;106;p15"/>
          <p:cNvSpPr txBox="1"/>
          <p:nvPr/>
        </p:nvSpPr>
        <p:spPr>
          <a:xfrm>
            <a:off x="819150" y="5043700"/>
            <a:ext cx="50388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C66x DSP:</a:t>
            </a:r>
            <a:r>
              <a:rPr lang="en-US" sz="18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Two C66x floating point DSP, up to 1.35GHz, 40GFLOPS, 160GOPS</a:t>
            </a:r>
            <a:endParaRPr sz="1700"/>
          </a:p>
        </p:txBody>
      </p:sp>
      <p:sp>
        <p:nvSpPr>
          <p:cNvPr id="107" name="Google Shape;107;p15"/>
          <p:cNvSpPr txBox="1"/>
          <p:nvPr/>
        </p:nvSpPr>
        <p:spPr>
          <a:xfrm>
            <a:off x="581025" y="186226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  <p:sp>
        <p:nvSpPr>
          <p:cNvPr id="108" name="Google Shape;108;p15"/>
          <p:cNvSpPr txBox="1"/>
          <p:nvPr/>
        </p:nvSpPr>
        <p:spPr>
          <a:xfrm>
            <a:off x="581025" y="4092100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  <p:sp>
        <p:nvSpPr>
          <p:cNvPr id="109" name="Google Shape;109;p15"/>
          <p:cNvSpPr txBox="1"/>
          <p:nvPr/>
        </p:nvSpPr>
        <p:spPr>
          <a:xfrm>
            <a:off x="581025" y="5043700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  <p:sp>
        <p:nvSpPr>
          <p:cNvPr id="110" name="Google Shape;110;p15"/>
          <p:cNvSpPr txBox="1"/>
          <p:nvPr/>
        </p:nvSpPr>
        <p:spPr>
          <a:xfrm>
            <a:off x="771525" y="581025"/>
            <a:ext cx="1138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TARGET HARDWARE: TI TDA4VM SOC</a:t>
            </a:r>
          </a:p>
        </p:txBody>
      </p:sp>
      <p:sp>
        <p:nvSpPr>
          <p:cNvPr id="111" name="Google Shape;111;p15"/>
          <p:cNvSpPr/>
          <p:nvPr/>
        </p:nvSpPr>
        <p:spPr>
          <a:xfrm>
            <a:off x="581025" y="581025"/>
            <a:ext cx="57300" cy="466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2" name="Google Shape;112;p15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6576850" y="1339487"/>
            <a:ext cx="4468375" cy="5136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19138" y="3140499"/>
            <a:ext cx="50388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ARM Cortex-R5F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8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Six Arm Cortex-R5F MCUs at up to 1.0GHz</a:t>
            </a:r>
            <a:endParaRPr sz="1700"/>
          </a:p>
        </p:txBody>
      </p:sp>
      <p:sp>
        <p:nvSpPr>
          <p:cNvPr id="114" name="Google Shape;114;p15"/>
          <p:cNvSpPr txBox="1"/>
          <p:nvPr/>
        </p:nvSpPr>
        <p:spPr>
          <a:xfrm>
            <a:off x="581013" y="3140500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34125" y="1171750"/>
            <a:ext cx="4953825" cy="54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81025" y="1339500"/>
            <a:ext cx="562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TDA4VM integrates specialized </a:t>
            </a:r>
            <a:r>
              <a:rPr lang="en-US" sz="150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accelerators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50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</a:p>
        </p:txBody>
      </p:sp>
      <p:sp>
        <p:nvSpPr>
          <p:cNvPr id="122" name="Google Shape;122;p16"/>
          <p:cNvSpPr txBox="1"/>
          <p:nvPr/>
        </p:nvSpPr>
        <p:spPr>
          <a:xfrm>
            <a:off x="819150" y="1862262"/>
            <a:ext cx="50388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US" sz="1800" b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MMA:</a:t>
            </a:r>
            <a:r>
              <a:rPr lang="en-US" sz="18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Deep-learning matrix multiply accelerator (MMA), up to 8 TOPS (8b) at 1.0GHz</a:t>
            </a:r>
            <a:endParaRPr sz="2100"/>
          </a:p>
        </p:txBody>
      </p:sp>
      <p:sp>
        <p:nvSpPr>
          <p:cNvPr id="123" name="Google Shape;123;p16"/>
          <p:cNvSpPr txBox="1"/>
          <p:nvPr/>
        </p:nvSpPr>
        <p:spPr>
          <a:xfrm>
            <a:off x="819150" y="4038600"/>
            <a:ext cx="50388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VPAC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8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Vision Processing Accelerators with Image Signal Processor (ISP) and multiple vision assist accelerators</a:t>
            </a:r>
            <a:endParaRPr sz="1700"/>
          </a:p>
        </p:txBody>
      </p:sp>
      <p:sp>
        <p:nvSpPr>
          <p:cNvPr id="124" name="Google Shape;124;p16"/>
          <p:cNvSpPr txBox="1"/>
          <p:nvPr/>
        </p:nvSpPr>
        <p:spPr>
          <a:xfrm>
            <a:off x="819150" y="5345700"/>
            <a:ext cx="50388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US" sz="1800" b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3D GPU:</a:t>
            </a:r>
            <a:r>
              <a:rPr lang="en-US" sz="18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PowerVR Rogue 8XE GE8430, up to 750MHz, 96GFLOPS, 6Gpix/sec</a:t>
            </a:r>
            <a:endParaRPr sz="2000"/>
          </a:p>
        </p:txBody>
      </p:sp>
      <p:sp>
        <p:nvSpPr>
          <p:cNvPr id="125" name="Google Shape;125;p16"/>
          <p:cNvSpPr txBox="1"/>
          <p:nvPr/>
        </p:nvSpPr>
        <p:spPr>
          <a:xfrm>
            <a:off x="581025" y="186226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  <p:sp>
        <p:nvSpPr>
          <p:cNvPr id="126" name="Google Shape;126;p16"/>
          <p:cNvSpPr txBox="1"/>
          <p:nvPr/>
        </p:nvSpPr>
        <p:spPr>
          <a:xfrm>
            <a:off x="581025" y="4038600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  <p:sp>
        <p:nvSpPr>
          <p:cNvPr id="127" name="Google Shape;127;p16"/>
          <p:cNvSpPr txBox="1"/>
          <p:nvPr/>
        </p:nvSpPr>
        <p:spPr>
          <a:xfrm>
            <a:off x="581025" y="5345700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  <p:sp>
        <p:nvSpPr>
          <p:cNvPr id="128" name="Google Shape;128;p16"/>
          <p:cNvSpPr txBox="1"/>
          <p:nvPr/>
        </p:nvSpPr>
        <p:spPr>
          <a:xfrm>
            <a:off x="771525" y="581025"/>
            <a:ext cx="1138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TARGET HARDWARE: TI TDA4VM SOC</a:t>
            </a:r>
          </a:p>
        </p:txBody>
      </p:sp>
      <p:sp>
        <p:nvSpPr>
          <p:cNvPr id="129" name="Google Shape;129;p16"/>
          <p:cNvSpPr/>
          <p:nvPr/>
        </p:nvSpPr>
        <p:spPr>
          <a:xfrm>
            <a:off x="581025" y="581025"/>
            <a:ext cx="57300" cy="466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6576850" y="1339487"/>
            <a:ext cx="4468375" cy="513617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19138" y="3119099"/>
            <a:ext cx="50388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DMPAC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8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Depth and Motion Processing Accelerators</a:t>
            </a:r>
            <a:endParaRPr sz="1700"/>
          </a:p>
        </p:txBody>
      </p:sp>
      <p:sp>
        <p:nvSpPr>
          <p:cNvPr id="132" name="Google Shape;132;p16"/>
          <p:cNvSpPr txBox="1"/>
          <p:nvPr/>
        </p:nvSpPr>
        <p:spPr>
          <a:xfrm>
            <a:off x="581013" y="3119100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34125" y="1171750"/>
            <a:ext cx="4953825" cy="54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81025" y="1339500"/>
            <a:ext cx="5620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US" sz="150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Custom-designed interconnect fabric supporting near max processing entitlement Memory subsystem:</a:t>
            </a:r>
          </a:p>
        </p:txBody>
      </p:sp>
      <p:sp>
        <p:nvSpPr>
          <p:cNvPr id="140" name="Google Shape;140;p17"/>
          <p:cNvSpPr txBox="1"/>
          <p:nvPr/>
        </p:nvSpPr>
        <p:spPr>
          <a:xfrm>
            <a:off x="819150" y="4038600"/>
            <a:ext cx="50388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1MB shared L2 cache per dual-core Cortex-A72 cluster, 32KB L1 DCache and 48KB L1 ICache per Cortex-A72 core</a:t>
            </a:r>
            <a:endParaRPr sz="1700"/>
          </a:p>
        </p:txBody>
      </p:sp>
      <p:sp>
        <p:nvSpPr>
          <p:cNvPr id="141" name="Google Shape;141;p17"/>
          <p:cNvSpPr txBox="1"/>
          <p:nvPr/>
        </p:nvSpPr>
        <p:spPr>
          <a:xfrm>
            <a:off x="819150" y="2210662"/>
            <a:ext cx="50388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Memory:</a:t>
            </a:r>
            <a:r>
              <a:rPr lang="en-US" sz="18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8MB of on-chip L3 RAM with ECC and coherency</a:t>
            </a:r>
            <a:endParaRPr sz="2000"/>
          </a:p>
        </p:txBody>
      </p:sp>
      <p:sp>
        <p:nvSpPr>
          <p:cNvPr id="142" name="Google Shape;142;p17"/>
          <p:cNvSpPr txBox="1"/>
          <p:nvPr/>
        </p:nvSpPr>
        <p:spPr>
          <a:xfrm>
            <a:off x="581025" y="4038600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  <p:sp>
        <p:nvSpPr>
          <p:cNvPr id="143" name="Google Shape;143;p17"/>
          <p:cNvSpPr txBox="1"/>
          <p:nvPr/>
        </p:nvSpPr>
        <p:spPr>
          <a:xfrm>
            <a:off x="581025" y="221066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  <p:sp>
        <p:nvSpPr>
          <p:cNvPr id="144" name="Google Shape;144;p17"/>
          <p:cNvSpPr txBox="1"/>
          <p:nvPr/>
        </p:nvSpPr>
        <p:spPr>
          <a:xfrm>
            <a:off x="771525" y="581025"/>
            <a:ext cx="1138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TARGET HARDWARE: TI TDA4VM SOC</a:t>
            </a:r>
          </a:p>
        </p:txBody>
      </p:sp>
      <p:sp>
        <p:nvSpPr>
          <p:cNvPr id="145" name="Google Shape;145;p17"/>
          <p:cNvSpPr/>
          <p:nvPr/>
        </p:nvSpPr>
        <p:spPr>
          <a:xfrm>
            <a:off x="581025" y="581025"/>
            <a:ext cx="57300" cy="466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6576850" y="1339487"/>
            <a:ext cx="4468375" cy="51361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819138" y="3119099"/>
            <a:ext cx="50388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LPDDR4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8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External Memory Interface (EMIF) module with ECC</a:t>
            </a:r>
            <a:endParaRPr sz="1700"/>
          </a:p>
        </p:txBody>
      </p:sp>
      <p:sp>
        <p:nvSpPr>
          <p:cNvPr id="148" name="Google Shape;148;p17"/>
          <p:cNvSpPr txBox="1"/>
          <p:nvPr/>
        </p:nvSpPr>
        <p:spPr>
          <a:xfrm>
            <a:off x="581013" y="3119100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  <p:sp>
        <p:nvSpPr>
          <p:cNvPr id="149" name="Google Shape;149;p17"/>
          <p:cNvSpPr txBox="1"/>
          <p:nvPr/>
        </p:nvSpPr>
        <p:spPr>
          <a:xfrm>
            <a:off x="819150" y="5345700"/>
            <a:ext cx="50388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16K I-Cache, 16K D-Cache, 64K L2 TCM per six Six Arm Cortex-R5F MCUs</a:t>
            </a:r>
            <a:endParaRPr sz="1700"/>
          </a:p>
        </p:txBody>
      </p:sp>
      <p:sp>
        <p:nvSpPr>
          <p:cNvPr id="150" name="Google Shape;150;p17"/>
          <p:cNvSpPr txBox="1"/>
          <p:nvPr/>
        </p:nvSpPr>
        <p:spPr>
          <a:xfrm>
            <a:off x="581025" y="5345700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2352675"/>
            <a:ext cx="34861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52925" y="2352675"/>
            <a:ext cx="34861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124825" y="2352675"/>
            <a:ext cx="348615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876300" y="3229214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Primary Objective</a:t>
            </a:r>
          </a:p>
        </p:txBody>
      </p:sp>
      <p:sp>
        <p:nvSpPr>
          <p:cNvPr id="160" name="Google Shape;160;p18"/>
          <p:cNvSpPr txBox="1"/>
          <p:nvPr/>
        </p:nvSpPr>
        <p:spPr>
          <a:xfrm>
            <a:off x="876300" y="3628786"/>
            <a:ext cx="28956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Minimize end-to-end latency to satisfy deterministic 30 FPS real-time requirements in ADAS/Robotics/</a:t>
            </a:r>
            <a:r>
              <a:rPr lang="en-US" sz="1500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Defence</a:t>
            </a:r>
            <a:r>
              <a:rPr lang="en-US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Ind</a:t>
            </a:r>
            <a:r>
              <a:rPr lang="tr-TR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.</a:t>
            </a:r>
            <a:endParaRPr lang="en-US" sz="1500" b="0" i="0" u="none" strike="noStrike" cap="none" dirty="0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4648200" y="3229213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Hardware Constraints</a:t>
            </a:r>
          </a:p>
        </p:txBody>
      </p:sp>
      <p:sp>
        <p:nvSpPr>
          <p:cNvPr id="162" name="Google Shape;162;p18"/>
          <p:cNvSpPr txBox="1"/>
          <p:nvPr/>
        </p:nvSpPr>
        <p:spPr>
          <a:xfrm>
            <a:off x="4648200" y="3628786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Strict 8MB on-chip shared memory budget and finite DDR bandwidth for large tensor transfers.</a:t>
            </a:r>
          </a:p>
        </p:txBody>
      </p:sp>
      <p:sp>
        <p:nvSpPr>
          <p:cNvPr id="163" name="Google Shape;163;p18"/>
          <p:cNvSpPr txBox="1"/>
          <p:nvPr/>
        </p:nvSpPr>
        <p:spPr>
          <a:xfrm>
            <a:off x="8420100" y="3229212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Accuracy Target</a:t>
            </a:r>
          </a:p>
        </p:txBody>
      </p:sp>
      <p:sp>
        <p:nvSpPr>
          <p:cNvPr id="164" name="Google Shape;164;p18"/>
          <p:cNvSpPr txBox="1"/>
          <p:nvPr/>
        </p:nvSpPr>
        <p:spPr>
          <a:xfrm>
            <a:off x="8420100" y="3628786"/>
            <a:ext cx="2895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Maintain quantized model accuracy within ε range of the baseline FP32 performance.</a:t>
            </a:r>
          </a:p>
        </p:txBody>
      </p:sp>
      <p:pic>
        <p:nvPicPr>
          <p:cNvPr id="165" name="Google Shape;165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76300" y="26860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4648200" y="26860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420100" y="26860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SYSTEM REQUIREMENTS &amp; GOALS</a:t>
            </a:r>
          </a:p>
        </p:txBody>
      </p:sp>
      <p:sp>
        <p:nvSpPr>
          <p:cNvPr id="169" name="Google Shape;169;p18"/>
          <p:cNvSpPr/>
          <p:nvPr/>
        </p:nvSpPr>
        <p:spPr>
          <a:xfrm>
            <a:off x="581025" y="581025"/>
            <a:ext cx="57150" cy="4667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1889477"/>
            <a:ext cx="3040380" cy="2063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52925" y="1889477"/>
            <a:ext cx="3040380" cy="2063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4825" y="1889477"/>
            <a:ext cx="3040380" cy="206339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876300" y="2148779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 b="1" i="0" u="none" strike="noStrike" cap="none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Base Model </a:t>
            </a:r>
            <a:r>
              <a:rPr lang="tr-TR" sz="1800" b="1" i="0" u="none" strike="noStrike" cap="none" dirty="0" err="1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Selection</a:t>
            </a:r>
            <a:endParaRPr lang="en-US" sz="18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876300" y="2567879"/>
            <a:ext cx="28956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Edge</a:t>
            </a: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AI </a:t>
            </a:r>
            <a:r>
              <a:rPr lang="tr-TR" sz="15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Studio</a:t>
            </a:r>
            <a:endParaRPr lang="tr-TR" sz="1500" dirty="0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ONNX/</a:t>
            </a:r>
            <a:r>
              <a:rPr lang="tr-TR" sz="1500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TFLite</a:t>
            </a:r>
            <a:r>
              <a:rPr lang="tr-TR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model format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0" i="0" u="none" strike="noStrike" cap="none" dirty="0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648200" y="2148779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 b="1" i="0" u="none" strike="noStrike" cap="none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TIDL </a:t>
            </a:r>
            <a:r>
              <a:rPr lang="tr-TR" sz="1800" b="1" i="0" u="none" strike="noStrike" cap="none" dirty="0" err="1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Configuration</a:t>
            </a:r>
            <a:endParaRPr lang="en-US" sz="18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648200" y="2567879"/>
            <a:ext cx="28956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Adjusting</a:t>
            </a: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5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</a:t>
            </a: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ONNX/</a:t>
            </a:r>
            <a:r>
              <a:rPr lang="tr-TR" sz="15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TFLite</a:t>
            </a: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model </a:t>
            </a:r>
            <a:r>
              <a:rPr lang="tr-TR" sz="15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for</a:t>
            </a: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TIDL.</a:t>
            </a:r>
            <a:endParaRPr lang="tr-TR" sz="1500" dirty="0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00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Quantization</a:t>
            </a:r>
            <a:r>
              <a:rPr lang="tr-TR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500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and</a:t>
            </a:r>
            <a:r>
              <a:rPr lang="tr-TR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500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Calibration</a:t>
            </a:r>
            <a:r>
              <a:rPr lang="tr-TR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500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settings</a:t>
            </a:r>
            <a:endParaRPr lang="en-US" sz="1500" b="0" i="0" u="none" strike="noStrike" cap="none" dirty="0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8450054" y="2148779"/>
            <a:ext cx="29804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Model </a:t>
            </a:r>
            <a:r>
              <a:rPr lang="tr-TR" sz="1800" b="1" dirty="0" err="1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Compilation</a:t>
            </a:r>
            <a:endParaRPr lang="en-US" sz="18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8420100" y="2567879"/>
            <a:ext cx="28956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Cross </a:t>
            </a:r>
            <a:r>
              <a:rPr lang="tr-TR" sz="15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compilation</a:t>
            </a: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5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using</a:t>
            </a: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5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by</a:t>
            </a: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5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Edge</a:t>
            </a: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AI TIDL </a:t>
            </a:r>
            <a:r>
              <a:rPr lang="tr-TR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</a:t>
            </a: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ools on x86 PC</a:t>
            </a:r>
            <a:endParaRPr lang="en-US" sz="1500" b="0" i="0" u="none" strike="noStrike" cap="none" dirty="0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 b="1" i="0" u="none" strike="noStrike" cap="none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IMPLEMENTATION</a:t>
            </a:r>
            <a:endParaRPr lang="en-US" sz="3000" b="1" i="0" u="none" strike="noStrike" cap="none" dirty="0">
              <a:solidFill>
                <a:srgbClr val="10B98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81025" y="581025"/>
            <a:ext cx="57150" cy="4667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214;p21" descr="image.png">
            <a:extLst>
              <a:ext uri="{FF2B5EF4-FFF2-40B4-BE49-F238E27FC236}">
                <a16:creationId xmlns:a16="http://schemas.microsoft.com/office/drawing/2014/main" id="{21EBC765-2AEB-4FB9-BFD6-9BCB4DD68BDC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4109154"/>
            <a:ext cx="3040380" cy="2063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15;p21" descr="image.png">
            <a:extLst>
              <a:ext uri="{FF2B5EF4-FFF2-40B4-BE49-F238E27FC236}">
                <a16:creationId xmlns:a16="http://schemas.microsoft.com/office/drawing/2014/main" id="{6E593FF0-C83E-4D2E-90B4-EFBD0823770A}"/>
              </a:ext>
            </a:extLst>
          </p:cNvPr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52925" y="4109154"/>
            <a:ext cx="3040380" cy="2063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16;p21" descr="image.png">
            <a:extLst>
              <a:ext uri="{FF2B5EF4-FFF2-40B4-BE49-F238E27FC236}">
                <a16:creationId xmlns:a16="http://schemas.microsoft.com/office/drawing/2014/main" id="{2D39B65D-81AF-4885-949E-167743D903D7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4825" y="4109154"/>
            <a:ext cx="3040380" cy="206339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17;p21">
            <a:extLst>
              <a:ext uri="{FF2B5EF4-FFF2-40B4-BE49-F238E27FC236}">
                <a16:creationId xmlns:a16="http://schemas.microsoft.com/office/drawing/2014/main" id="{00EE75D6-6CC8-42A4-AC94-21FB5C8B9073}"/>
              </a:ext>
            </a:extLst>
          </p:cNvPr>
          <p:cNvSpPr txBox="1"/>
          <p:nvPr/>
        </p:nvSpPr>
        <p:spPr>
          <a:xfrm>
            <a:off x="876300" y="4368456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 b="1" i="0" u="none" strike="noStrike" cap="none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Host </a:t>
            </a:r>
            <a:r>
              <a:rPr lang="tr-TR" sz="1800" b="1" i="0" u="none" strike="noStrike" cap="none" dirty="0" err="1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Emulation</a:t>
            </a:r>
            <a:endParaRPr lang="en-US" sz="18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" name="Google Shape;218;p21">
            <a:extLst>
              <a:ext uri="{FF2B5EF4-FFF2-40B4-BE49-F238E27FC236}">
                <a16:creationId xmlns:a16="http://schemas.microsoft.com/office/drawing/2014/main" id="{8B0F2079-B8B9-483D-ABA9-268F2072ABC7}"/>
              </a:ext>
            </a:extLst>
          </p:cNvPr>
          <p:cNvSpPr txBox="1"/>
          <p:nvPr/>
        </p:nvSpPr>
        <p:spPr>
          <a:xfrm>
            <a:off x="876300" y="4787556"/>
            <a:ext cx="28956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Model test on a TIDL-RT Host </a:t>
            </a:r>
            <a:r>
              <a:rPr lang="tr-TR" sz="1500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</a:t>
            </a:r>
            <a:r>
              <a:rPr lang="tr-TR" sz="15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mulation</a:t>
            </a:r>
            <a:endParaRPr lang="tr-TR" sz="1500" dirty="0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0" i="0" u="none" strike="noStrike" cap="none" dirty="0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" name="Google Shape;219;p21">
            <a:extLst>
              <a:ext uri="{FF2B5EF4-FFF2-40B4-BE49-F238E27FC236}">
                <a16:creationId xmlns:a16="http://schemas.microsoft.com/office/drawing/2014/main" id="{43FDEB32-CDBB-4B81-A1D0-5A7ED88CD854}"/>
              </a:ext>
            </a:extLst>
          </p:cNvPr>
          <p:cNvSpPr txBox="1"/>
          <p:nvPr/>
        </p:nvSpPr>
        <p:spPr>
          <a:xfrm>
            <a:off x="4648200" y="4368456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Board Integration</a:t>
            </a:r>
            <a:endParaRPr lang="en-US" sz="18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" name="Google Shape;220;p21">
            <a:extLst>
              <a:ext uri="{FF2B5EF4-FFF2-40B4-BE49-F238E27FC236}">
                <a16:creationId xmlns:a16="http://schemas.microsoft.com/office/drawing/2014/main" id="{3C4D60E3-85AF-49C3-AC1E-4B57A222EDC8}"/>
              </a:ext>
            </a:extLst>
          </p:cNvPr>
          <p:cNvSpPr txBox="1"/>
          <p:nvPr/>
        </p:nvSpPr>
        <p:spPr>
          <a:xfrm>
            <a:off x="4648200" y="4787556"/>
            <a:ext cx="28956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Moving</a:t>
            </a: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5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compiled</a:t>
            </a: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5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artifacts</a:t>
            </a: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 </a:t>
            </a:r>
            <a:r>
              <a:rPr lang="tr-TR" sz="15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to</a:t>
            </a: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5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</a:t>
            </a:r>
            <a:r>
              <a:rPr lang="tr-TR" sz="15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TDA4VM Board</a:t>
            </a:r>
            <a:endParaRPr lang="en-US" sz="1500" b="0" i="0" u="none" strike="noStrike" cap="none" dirty="0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" name="Google Shape;221;p21">
            <a:extLst>
              <a:ext uri="{FF2B5EF4-FFF2-40B4-BE49-F238E27FC236}">
                <a16:creationId xmlns:a16="http://schemas.microsoft.com/office/drawing/2014/main" id="{70B1074C-BE2C-465B-9555-B2259EF35D7D}"/>
              </a:ext>
            </a:extLst>
          </p:cNvPr>
          <p:cNvSpPr txBox="1"/>
          <p:nvPr/>
        </p:nvSpPr>
        <p:spPr>
          <a:xfrm>
            <a:off x="8450054" y="4368456"/>
            <a:ext cx="29804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TDA4VM </a:t>
            </a:r>
            <a:r>
              <a:rPr lang="tr-TR" sz="1800" b="1" dirty="0" err="1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Inference</a:t>
            </a:r>
            <a:endParaRPr lang="en-US" sz="18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" name="Google Shape;222;p21">
            <a:extLst>
              <a:ext uri="{FF2B5EF4-FFF2-40B4-BE49-F238E27FC236}">
                <a16:creationId xmlns:a16="http://schemas.microsoft.com/office/drawing/2014/main" id="{2F98F9B4-BD8E-474C-BC72-F5F2BC623788}"/>
              </a:ext>
            </a:extLst>
          </p:cNvPr>
          <p:cNvSpPr txBox="1"/>
          <p:nvPr/>
        </p:nvSpPr>
        <p:spPr>
          <a:xfrm>
            <a:off x="8420100" y="4787556"/>
            <a:ext cx="28956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Main </a:t>
            </a:r>
            <a:r>
              <a:rPr lang="tr-TR" sz="1500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application</a:t>
            </a:r>
            <a:r>
              <a:rPr lang="tr-TR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500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tasks</a:t>
            </a:r>
            <a:r>
              <a:rPr lang="tr-TR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500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and</a:t>
            </a:r>
            <a:r>
              <a:rPr lang="tr-TR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500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inference</a:t>
            </a:r>
            <a:r>
              <a:rPr lang="tr-TR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500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pipeline</a:t>
            </a:r>
            <a:r>
              <a:rPr lang="tr-TR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500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implementation</a:t>
            </a:r>
            <a:endParaRPr lang="en-US" sz="1500" b="0" i="0" u="none" strike="noStrike" cap="none" dirty="0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970240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552575" y="218598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6334125" y="2242750"/>
            <a:ext cx="55406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1F5F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Efficiency vs Accuracy</a:t>
            </a:r>
          </a:p>
        </p:txBody>
      </p:sp>
      <p:sp>
        <p:nvSpPr>
          <p:cNvPr id="235" name="Google Shape;235;p22"/>
          <p:cNvSpPr txBox="1"/>
          <p:nvPr/>
        </p:nvSpPr>
        <p:spPr>
          <a:xfrm>
            <a:off x="6334125" y="2693430"/>
            <a:ext cx="52768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Quantization reduces memory footprint by 4x and compute energy significantly. Our calibration strategy ensures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mAP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degradation remains &lt; 2% for most lightweight architectures.</a:t>
            </a:r>
          </a:p>
        </p:txBody>
      </p:sp>
      <p:sp>
        <p:nvSpPr>
          <p:cNvPr id="236" name="Google Shape;236;p22"/>
          <p:cNvSpPr txBox="1"/>
          <p:nvPr/>
        </p:nvSpPr>
        <p:spPr>
          <a:xfrm>
            <a:off x="6334125" y="4426446"/>
            <a:ext cx="52768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Leveraging TIDL Import Tools for optimal per-layer scaling.</a:t>
            </a:r>
          </a:p>
        </p:txBody>
      </p:sp>
      <p:pic>
        <p:nvPicPr>
          <p:cNvPr id="237" name="Google Shape;237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590675" y="2224087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INT8 PRECISION IMPACT</a:t>
            </a:r>
          </a:p>
        </p:txBody>
      </p:sp>
      <p:sp>
        <p:nvSpPr>
          <p:cNvPr id="239" name="Google Shape;239;p22"/>
          <p:cNvSpPr/>
          <p:nvPr/>
        </p:nvSpPr>
        <p:spPr>
          <a:xfrm>
            <a:off x="581025" y="581025"/>
            <a:ext cx="57150" cy="4667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771525" y="581025"/>
            <a:ext cx="4990623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SYSTEM DATAFLOW</a:t>
            </a:r>
          </a:p>
        </p:txBody>
      </p:sp>
      <p:sp>
        <p:nvSpPr>
          <p:cNvPr id="198" name="Google Shape;198;p20"/>
          <p:cNvSpPr/>
          <p:nvPr/>
        </p:nvSpPr>
        <p:spPr>
          <a:xfrm>
            <a:off x="581025" y="581025"/>
            <a:ext cx="57150" cy="4667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99" name="Google Shape;199;p2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765785" y="1172374"/>
            <a:ext cx="7040665" cy="533268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229990" y="1134182"/>
            <a:ext cx="453579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eterogen</a:t>
            </a:r>
            <a:r>
              <a:rPr lang="tr-TR" sz="18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ous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pipeline distributes tasks across cores to maximize parallel execution:</a:t>
            </a:r>
          </a:p>
        </p:txBody>
      </p:sp>
      <p:sp>
        <p:nvSpPr>
          <p:cNvPr id="201" name="Google Shape;201;p20"/>
          <p:cNvSpPr txBox="1"/>
          <p:nvPr/>
        </p:nvSpPr>
        <p:spPr>
          <a:xfrm>
            <a:off x="169370" y="2473105"/>
            <a:ext cx="4705350" cy="3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ARM: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Camera capture and resizing.</a:t>
            </a:r>
          </a:p>
        </p:txBody>
      </p:sp>
      <p:sp>
        <p:nvSpPr>
          <p:cNvPr id="202" name="Google Shape;202;p20"/>
          <p:cNvSpPr txBox="1"/>
          <p:nvPr/>
        </p:nvSpPr>
        <p:spPr>
          <a:xfrm>
            <a:off x="169370" y="2941190"/>
            <a:ext cx="47053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C7x+MMA: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Intensive TIDL INT8 Inference.</a:t>
            </a:r>
          </a:p>
        </p:txBody>
      </p:sp>
      <p:sp>
        <p:nvSpPr>
          <p:cNvPr id="203" name="Google Shape;203;p20"/>
          <p:cNvSpPr txBox="1"/>
          <p:nvPr/>
        </p:nvSpPr>
        <p:spPr>
          <a:xfrm>
            <a:off x="169370" y="3741277"/>
            <a:ext cx="47053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C66x: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Post-processing (NMS, decoding).</a:t>
            </a:r>
          </a:p>
        </p:txBody>
      </p:sp>
      <p:sp>
        <p:nvSpPr>
          <p:cNvPr id="204" name="Google Shape;204;p20"/>
          <p:cNvSpPr txBox="1"/>
          <p:nvPr/>
        </p:nvSpPr>
        <p:spPr>
          <a:xfrm>
            <a:off x="151801" y="4546977"/>
            <a:ext cx="470535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SRAM: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Shared double-buffering.</a:t>
            </a:r>
          </a:p>
        </p:txBody>
      </p:sp>
      <p:sp>
        <p:nvSpPr>
          <p:cNvPr id="205" name="Google Shape;205;p20"/>
          <p:cNvSpPr txBox="1"/>
          <p:nvPr/>
        </p:nvSpPr>
        <p:spPr>
          <a:xfrm>
            <a:off x="169370" y="2472067"/>
            <a:ext cx="190500" cy="26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  <p:sp>
        <p:nvSpPr>
          <p:cNvPr id="206" name="Google Shape;206;p20"/>
          <p:cNvSpPr txBox="1"/>
          <p:nvPr/>
        </p:nvSpPr>
        <p:spPr>
          <a:xfrm>
            <a:off x="169370" y="2942831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  <p:sp>
        <p:nvSpPr>
          <p:cNvPr id="207" name="Google Shape;207;p20"/>
          <p:cNvSpPr txBox="1"/>
          <p:nvPr/>
        </p:nvSpPr>
        <p:spPr>
          <a:xfrm>
            <a:off x="169370" y="3721951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  <p:sp>
        <p:nvSpPr>
          <p:cNvPr id="208" name="Google Shape;208;p20"/>
          <p:cNvSpPr txBox="1"/>
          <p:nvPr/>
        </p:nvSpPr>
        <p:spPr>
          <a:xfrm>
            <a:off x="169370" y="4550213"/>
            <a:ext cx="19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1485901"/>
            <a:ext cx="11029950" cy="1607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603514" y="1857004"/>
            <a:ext cx="8526388" cy="8304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" name="Google Shape;177;p19"/>
          <p:cNvGraphicFramePr/>
          <p:nvPr>
            <p:extLst>
              <p:ext uri="{D42A27DB-BD31-4B8C-83A1-F6EECF244321}">
                <p14:modId xmlns:p14="http://schemas.microsoft.com/office/powerpoint/2010/main" val="3657085664"/>
              </p:ext>
            </p:extLst>
          </p:nvPr>
        </p:nvGraphicFramePr>
        <p:xfrm>
          <a:off x="581025" y="3284190"/>
          <a:ext cx="11029950" cy="2522000"/>
        </p:xfrm>
        <a:graphic>
          <a:graphicData uri="http://schemas.openxmlformats.org/drawingml/2006/table">
            <a:tbl>
              <a:tblPr firstRow="1" bandRow="1">
                <a:noFill/>
                <a:tableStyleId>{6B51A9A8-51AB-4993-90A6-B98231175B78}</a:tableStyleId>
              </a:tblPr>
              <a:tblGrid>
                <a:gridCol w="25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10B98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Decision Variable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10B98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Definition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10B98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Constraint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ci ∈ C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Processing Unit (ARM, C7x, C66x)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Hardware Operator Support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si ∈ {0, 1}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Memory Placement (DDR</a:t>
                      </a:r>
                      <a:r>
                        <a:rPr lang="tr-TR" sz="1800" b="0" i="0" u="none" strike="noStrike" cap="none" dirty="0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,</a:t>
                      </a: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MSMC)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Σ mi ≤ </a:t>
                      </a:r>
                      <a:r>
                        <a:rPr lang="en-US" sz="1800" b="0" i="0" u="none" strike="noStrike" cap="none" dirty="0" err="1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Mshared</a:t>
                      </a:r>
                      <a:endParaRPr lang="en-US" sz="1800" b="0" i="0" u="none" strike="noStrike" cap="none" dirty="0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Si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Scheduling/Tiling Order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Ttotal</a:t>
                      </a: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≤ </a:t>
                      </a:r>
                      <a:r>
                        <a:rPr lang="en-US" sz="1800" b="0" i="0" u="none" strike="noStrike" cap="none" dirty="0" err="1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Tdeadline</a:t>
                      </a:r>
                      <a:endParaRPr lang="en-US" sz="1800" b="0" i="0" u="none" strike="noStrike" cap="none" dirty="0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8" name="Google Shape;178;p19"/>
          <p:cNvSpPr/>
          <p:nvPr/>
        </p:nvSpPr>
        <p:spPr>
          <a:xfrm>
            <a:off x="581025" y="3855690"/>
            <a:ext cx="2573089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3154114" y="3855690"/>
            <a:ext cx="470401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7858125" y="3855690"/>
            <a:ext cx="37528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581025" y="4513808"/>
            <a:ext cx="257308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3154114" y="4513808"/>
            <a:ext cx="470401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7858125" y="4513808"/>
            <a:ext cx="37528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81025" y="5157638"/>
            <a:ext cx="257308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3154114" y="5157638"/>
            <a:ext cx="470401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7858125" y="5157638"/>
            <a:ext cx="37528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581025" y="5791944"/>
            <a:ext cx="257308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3154114" y="5791944"/>
            <a:ext cx="470401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7858125" y="5791944"/>
            <a:ext cx="37528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OPTIMIZATION MODEL</a:t>
            </a:r>
          </a:p>
        </p:txBody>
      </p:sp>
      <p:sp>
        <p:nvSpPr>
          <p:cNvPr id="191" name="Google Shape;191;p19"/>
          <p:cNvSpPr/>
          <p:nvPr/>
        </p:nvSpPr>
        <p:spPr>
          <a:xfrm>
            <a:off x="581025" y="581025"/>
            <a:ext cx="57150" cy="4667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77257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2209800"/>
            <a:ext cx="3486150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52925" y="2209800"/>
            <a:ext cx="3486150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4825" y="2209800"/>
            <a:ext cx="348615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876300" y="316230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PTQ INT8</a:t>
            </a:r>
          </a:p>
        </p:txBody>
      </p:sp>
      <p:sp>
        <p:nvSpPr>
          <p:cNvPr id="218" name="Google Shape;218;p21"/>
          <p:cNvSpPr txBox="1"/>
          <p:nvPr/>
        </p:nvSpPr>
        <p:spPr>
          <a:xfrm>
            <a:off x="876300" y="3581400"/>
            <a:ext cx="28956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TIDL-based Post-Training Quantization. Calibrated conversion of FP32 weights to 8-bit integers to leverage MMA performance.</a:t>
            </a:r>
          </a:p>
        </p:txBody>
      </p:sp>
      <p:sp>
        <p:nvSpPr>
          <p:cNvPr id="219" name="Google Shape;219;p21"/>
          <p:cNvSpPr txBox="1"/>
          <p:nvPr/>
        </p:nvSpPr>
        <p:spPr>
          <a:xfrm>
            <a:off x="4648200" y="316230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Memory Placement</a:t>
            </a:r>
          </a:p>
        </p:txBody>
      </p:sp>
      <p:sp>
        <p:nvSpPr>
          <p:cNvPr id="220" name="Google Shape;220;p21"/>
          <p:cNvSpPr txBox="1"/>
          <p:nvPr/>
        </p:nvSpPr>
        <p:spPr>
          <a:xfrm>
            <a:off x="4648200" y="3581400"/>
            <a:ext cx="28956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Greedy allocation policy for MSMC SRAM. High-reuse activation tensors are prioritized for on-chip storage to reduce DDR stalls.</a:t>
            </a:r>
          </a:p>
        </p:txBody>
      </p:sp>
      <p:sp>
        <p:nvSpPr>
          <p:cNvPr id="221" name="Google Shape;221;p21"/>
          <p:cNvSpPr txBox="1"/>
          <p:nvPr/>
        </p:nvSpPr>
        <p:spPr>
          <a:xfrm>
            <a:off x="8420100" y="316230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Stage Overlap</a:t>
            </a:r>
          </a:p>
        </p:txBody>
      </p:sp>
      <p:sp>
        <p:nvSpPr>
          <p:cNvPr id="222" name="Google Shape;222;p21"/>
          <p:cNvSpPr txBox="1"/>
          <p:nvPr/>
        </p:nvSpPr>
        <p:spPr>
          <a:xfrm>
            <a:off x="8420100" y="3581400"/>
            <a:ext cx="28956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Double-buffering and DMA-based prefetching. Overlapping memory movement with DSP compute to hide data transfer latency.</a:t>
            </a:r>
          </a:p>
        </p:txBody>
      </p:sp>
      <p:pic>
        <p:nvPicPr>
          <p:cNvPr id="223" name="Google Shape;223;p21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76300" y="25431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648200" y="254317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420100" y="25431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THREE PILLARS OF OPTIMIZATION</a:t>
            </a:r>
          </a:p>
        </p:txBody>
      </p:sp>
      <p:sp>
        <p:nvSpPr>
          <p:cNvPr id="227" name="Google Shape;227;p21"/>
          <p:cNvSpPr/>
          <p:nvPr/>
        </p:nvSpPr>
        <p:spPr>
          <a:xfrm>
            <a:off x="581025" y="581025"/>
            <a:ext cx="57150" cy="4667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65899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5" name="Google Shape;245;p23"/>
          <p:cNvGraphicFramePr/>
          <p:nvPr/>
        </p:nvGraphicFramePr>
        <p:xfrm>
          <a:off x="581025" y="2076450"/>
          <a:ext cx="11030220" cy="3552775"/>
        </p:xfrm>
        <a:graphic>
          <a:graphicData uri="http://schemas.openxmlformats.org/drawingml/2006/table">
            <a:tbl>
              <a:tblPr firstRow="1" bandRow="1">
                <a:noFill/>
                <a:tableStyleId>{6B51A9A8-51AB-4993-90A6-B98231175B78}</a:tableStyleId>
              </a:tblPr>
              <a:tblGrid>
                <a:gridCol w="2423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3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27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2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0B98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0B98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Input Resolution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0B98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Activation Mem.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0B98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Shared RAM Fit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0B98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mAP (COCO)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YOLOX-Nano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416 x 416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~2-3 MB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0B98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FULL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25.8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YOLOX-Tiny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416 x 416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~3-4 MB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0B98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FULL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32.8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SSD-MobileNetV2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300 x 300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~3 MB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0B98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FULL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22.1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EfficientDet-Lite0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320 x 320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~3.4 MB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0B98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FULL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26.3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YOLOX-S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640 x 640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6-8 MB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MARGINAL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40.5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6" name="Google Shape;246;p23"/>
          <p:cNvSpPr/>
          <p:nvPr/>
        </p:nvSpPr>
        <p:spPr>
          <a:xfrm>
            <a:off x="581025" y="2647950"/>
            <a:ext cx="242351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3004542" y="2647950"/>
            <a:ext cx="226278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267325" y="2647950"/>
            <a:ext cx="2287488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7554813" y="2647950"/>
            <a:ext cx="216381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9718625" y="2647950"/>
            <a:ext cx="1892349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581025" y="3252787"/>
            <a:ext cx="24235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3004542" y="3252787"/>
            <a:ext cx="226278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267325" y="3252787"/>
            <a:ext cx="228748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7554813" y="3252787"/>
            <a:ext cx="216381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9718625" y="3252787"/>
            <a:ext cx="189234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581025" y="3843337"/>
            <a:ext cx="24235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3004542" y="3843337"/>
            <a:ext cx="226278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5267325" y="3843337"/>
            <a:ext cx="228748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7554813" y="3843337"/>
            <a:ext cx="216381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9718625" y="3843337"/>
            <a:ext cx="189234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581025" y="4433887"/>
            <a:ext cx="24235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3004542" y="4433887"/>
            <a:ext cx="226278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5267325" y="4433887"/>
            <a:ext cx="228748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7554813" y="4433887"/>
            <a:ext cx="216381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9718625" y="4433887"/>
            <a:ext cx="189234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581025" y="5024437"/>
            <a:ext cx="24235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3004542" y="5024437"/>
            <a:ext cx="226278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5267325" y="5024437"/>
            <a:ext cx="228748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7554813" y="5024437"/>
            <a:ext cx="216381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9718625" y="5024437"/>
            <a:ext cx="189234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581025" y="5614987"/>
            <a:ext cx="24235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3004542" y="5614987"/>
            <a:ext cx="226278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267325" y="5614987"/>
            <a:ext cx="228748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7554813" y="5614987"/>
            <a:ext cx="216381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9718625" y="5614987"/>
            <a:ext cx="189234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CANDIDATE MODEL BENCHMARKS</a:t>
            </a:r>
          </a:p>
        </p:txBody>
      </p:sp>
      <p:sp>
        <p:nvSpPr>
          <p:cNvPr id="277" name="Google Shape;277;p23"/>
          <p:cNvSpPr/>
          <p:nvPr/>
        </p:nvSpPr>
        <p:spPr>
          <a:xfrm>
            <a:off x="581025" y="581025"/>
            <a:ext cx="57150" cy="4667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" name="TextBox 2">
            <a:extLst>
              <a:ext uri="{FF2B5EF4-FFF2-40B4-BE49-F238E27FC236}">
                <a16:creationId xmlns:a16="http://schemas.microsoft.com/office/drawing/2014/main" id="{46C49B1F-3E89-451C-B9BD-5C2B74342BCC}"/>
              </a:ext>
            </a:extLst>
          </p:cNvPr>
          <p:cNvSpPr txBox="1"/>
          <p:nvPr/>
        </p:nvSpPr>
        <p:spPr>
          <a:xfrm>
            <a:off x="490099" y="6123086"/>
            <a:ext cx="11048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→</a:t>
            </a:r>
            <a:r>
              <a:rPr lang="tr-TR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b="1" dirty="0" err="1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mAP</a:t>
            </a:r>
            <a:r>
              <a:rPr lang="tr-TR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in COCO is an </a:t>
            </a:r>
            <a:r>
              <a:rPr lang="tr-TR" b="1" dirty="0" err="1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object</a:t>
            </a:r>
            <a:r>
              <a:rPr lang="tr-TR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b="1" dirty="0" err="1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detection</a:t>
            </a:r>
            <a:r>
              <a:rPr lang="tr-TR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b="1" dirty="0" err="1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metric</a:t>
            </a:r>
            <a:r>
              <a:rPr lang="tr-TR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b="1" dirty="0" err="1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that</a:t>
            </a:r>
            <a:r>
              <a:rPr lang="tr-TR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b="1" dirty="0" err="1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provides</a:t>
            </a:r>
            <a:r>
              <a:rPr lang="tr-TR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b="1" dirty="0" err="1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measurement</a:t>
            </a:r>
            <a:r>
              <a:rPr lang="tr-TR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of </a:t>
            </a:r>
            <a:r>
              <a:rPr lang="tr-TR" b="1" dirty="0" err="1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both</a:t>
            </a:r>
            <a:r>
              <a:rPr lang="tr-TR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b="1" dirty="0" err="1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detection</a:t>
            </a:r>
            <a:r>
              <a:rPr lang="tr-TR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b="1" dirty="0" err="1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accuracy</a:t>
            </a:r>
            <a:r>
              <a:rPr lang="tr-TR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b="1" dirty="0" err="1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and</a:t>
            </a:r>
            <a:r>
              <a:rPr lang="tr-TR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b="1" dirty="0" err="1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localization</a:t>
            </a:r>
            <a:r>
              <a:rPr lang="tr-TR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b="1" dirty="0" err="1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quality</a:t>
            </a:r>
            <a:endParaRPr lang="tr-T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/>
          <p:nvPr/>
        </p:nvSpPr>
        <p:spPr>
          <a:xfrm>
            <a:off x="1699021" y="39957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4566791" y="39957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7434560" y="39957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10302329" y="39957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581025" y="4071937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520362" y="4555033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W1-2</a:t>
            </a:r>
          </a:p>
        </p:txBody>
      </p:sp>
      <p:sp>
        <p:nvSpPr>
          <p:cNvPr id="289" name="Google Shape;289;p24"/>
          <p:cNvSpPr txBox="1"/>
          <p:nvPr/>
        </p:nvSpPr>
        <p:spPr>
          <a:xfrm>
            <a:off x="581025" y="4952404"/>
            <a:ext cx="242649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Setup &amp; Baseline Selection</a:t>
            </a:r>
          </a:p>
        </p:txBody>
      </p:sp>
      <p:sp>
        <p:nvSpPr>
          <p:cNvPr id="290" name="Google Shape;290;p24"/>
          <p:cNvSpPr txBox="1"/>
          <p:nvPr/>
        </p:nvSpPr>
        <p:spPr>
          <a:xfrm>
            <a:off x="3388131" y="2645866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W3-4</a:t>
            </a:r>
          </a:p>
        </p:txBody>
      </p:sp>
      <p:sp>
        <p:nvSpPr>
          <p:cNvPr id="291" name="Google Shape;291;p24"/>
          <p:cNvSpPr txBox="1"/>
          <p:nvPr/>
        </p:nvSpPr>
        <p:spPr>
          <a:xfrm>
            <a:off x="3448794" y="3043237"/>
            <a:ext cx="242649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Quantization &amp; TIDL Import</a:t>
            </a:r>
          </a:p>
        </p:txBody>
      </p:sp>
      <p:sp>
        <p:nvSpPr>
          <p:cNvPr id="292" name="Google Shape;292;p24"/>
          <p:cNvSpPr txBox="1"/>
          <p:nvPr/>
        </p:nvSpPr>
        <p:spPr>
          <a:xfrm>
            <a:off x="6255900" y="4555033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W5-6</a:t>
            </a:r>
          </a:p>
        </p:txBody>
      </p:sp>
      <p:sp>
        <p:nvSpPr>
          <p:cNvPr id="293" name="Google Shape;293;p24"/>
          <p:cNvSpPr txBox="1"/>
          <p:nvPr/>
        </p:nvSpPr>
        <p:spPr>
          <a:xfrm>
            <a:off x="6316563" y="4952404"/>
            <a:ext cx="242649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Pipeline &amp; DMA Integration</a:t>
            </a:r>
          </a:p>
        </p:txBody>
      </p:sp>
      <p:sp>
        <p:nvSpPr>
          <p:cNvPr id="294" name="Google Shape;294;p24"/>
          <p:cNvSpPr txBox="1"/>
          <p:nvPr/>
        </p:nvSpPr>
        <p:spPr>
          <a:xfrm>
            <a:off x="9123670" y="2931616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W7-8</a:t>
            </a:r>
          </a:p>
        </p:txBody>
      </p:sp>
      <p:sp>
        <p:nvSpPr>
          <p:cNvPr id="295" name="Google Shape;295;p24"/>
          <p:cNvSpPr txBox="1"/>
          <p:nvPr/>
        </p:nvSpPr>
        <p:spPr>
          <a:xfrm>
            <a:off x="9184332" y="3328987"/>
            <a:ext cx="24264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Profiling &amp; Optimization</a:t>
            </a:r>
          </a:p>
        </p:txBody>
      </p:sp>
      <p:sp>
        <p:nvSpPr>
          <p:cNvPr id="296" name="Google Shape;296;p24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IMPLEMENTATION TIMELINE</a:t>
            </a:r>
          </a:p>
        </p:txBody>
      </p:sp>
      <p:sp>
        <p:nvSpPr>
          <p:cNvPr id="297" name="Google Shape;297;p24"/>
          <p:cNvSpPr/>
          <p:nvPr/>
        </p:nvSpPr>
        <p:spPr>
          <a:xfrm>
            <a:off x="581025" y="581025"/>
            <a:ext cx="57150" cy="4667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1889477"/>
            <a:ext cx="3040380" cy="2063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52925" y="1889477"/>
            <a:ext cx="3040380" cy="2063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4825" y="1889477"/>
            <a:ext cx="3040380" cy="206339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876300" y="2065350"/>
            <a:ext cx="304038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tr-TR" sz="1800" b="1" dirty="0" err="1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End-to-End</a:t>
            </a:r>
            <a:r>
              <a:rPr lang="tr-TR" sz="18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800" b="1" dirty="0" err="1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Latency</a:t>
            </a:r>
            <a:r>
              <a:rPr lang="tr-TR" sz="18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</a:p>
          <a:p>
            <a:pPr lvl="0"/>
            <a:r>
              <a:rPr lang="tr-TR" sz="18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(</a:t>
            </a:r>
            <a:r>
              <a:rPr lang="tr-TR" sz="1800" b="1" dirty="0" err="1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ms</a:t>
            </a:r>
            <a:r>
              <a:rPr lang="tr-TR" sz="18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):</a:t>
            </a:r>
            <a:endParaRPr lang="en-US" sz="18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876300" y="2621903"/>
            <a:ext cx="28956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total time from frame</a:t>
            </a:r>
          </a:p>
          <a:p>
            <a:pPr lvl="0"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capture to final detection output.</a:t>
            </a:r>
            <a:endParaRPr lang="en-US" sz="1500" b="0" i="0" u="none" strike="noStrike" cap="none" dirty="0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575810" y="2049399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tr-TR" sz="1800" b="1" dirty="0" err="1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Throughput</a:t>
            </a:r>
            <a:r>
              <a:rPr lang="tr-TR" sz="18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(FPS):</a:t>
            </a:r>
            <a:endParaRPr lang="en-US" sz="18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575810" y="2425004"/>
            <a:ext cx="28956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Sustained frames processed per second</a:t>
            </a:r>
          </a:p>
          <a:p>
            <a:pPr lvl="0"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under continuous inference load.</a:t>
            </a:r>
            <a:endParaRPr lang="en-US" sz="1500" b="0" i="0" u="none" strike="noStrike" cap="none" dirty="0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8420100" y="2049617"/>
            <a:ext cx="29804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tr-TR" sz="1800" b="1" dirty="0" err="1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Energy</a:t>
            </a:r>
            <a:r>
              <a:rPr lang="tr-TR" sz="18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800" b="1" dirty="0" err="1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Efficiency</a:t>
            </a:r>
            <a:r>
              <a:rPr lang="tr-TR" sz="18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  <a:endParaRPr lang="en-US" sz="18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8420100" y="2397866"/>
            <a:ext cx="28956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Performance-per-watt or </a:t>
            </a:r>
            <a:r>
              <a:rPr lang="en-US" sz="1500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platformlevel</a:t>
            </a:r>
            <a:endParaRPr lang="en-US" sz="1500" dirty="0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lvl="0"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power/performance indicators, if measurable.</a:t>
            </a:r>
            <a:endParaRPr lang="en-US" sz="1500" b="0" i="0" u="none" strike="noStrike" cap="none" dirty="0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tr-TR" sz="3000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REQUIREMENTS </a:t>
            </a:r>
            <a:r>
              <a:rPr lang="en-US" sz="3000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EVALUATIO</a:t>
            </a:r>
            <a:r>
              <a:rPr lang="tr-TR" sz="3000" b="1" dirty="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</a:t>
            </a:r>
            <a:endParaRPr lang="en-US" sz="3000" b="1" dirty="0">
              <a:solidFill>
                <a:srgbClr val="10B98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81025" y="581025"/>
            <a:ext cx="57150" cy="4667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214;p21" descr="image.png">
            <a:extLst>
              <a:ext uri="{FF2B5EF4-FFF2-40B4-BE49-F238E27FC236}">
                <a16:creationId xmlns:a16="http://schemas.microsoft.com/office/drawing/2014/main" id="{21EBC765-2AEB-4FB9-BFD6-9BCB4DD68BDC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4109154"/>
            <a:ext cx="3040380" cy="2063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15;p21" descr="image.png">
            <a:extLst>
              <a:ext uri="{FF2B5EF4-FFF2-40B4-BE49-F238E27FC236}">
                <a16:creationId xmlns:a16="http://schemas.microsoft.com/office/drawing/2014/main" id="{6E593FF0-C83E-4D2E-90B4-EFBD0823770A}"/>
              </a:ext>
            </a:extLst>
          </p:cNvPr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52925" y="4109154"/>
            <a:ext cx="3040380" cy="206339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17;p21">
            <a:extLst>
              <a:ext uri="{FF2B5EF4-FFF2-40B4-BE49-F238E27FC236}">
                <a16:creationId xmlns:a16="http://schemas.microsoft.com/office/drawing/2014/main" id="{00EE75D6-6CC8-42A4-AC94-21FB5C8B9073}"/>
              </a:ext>
            </a:extLst>
          </p:cNvPr>
          <p:cNvSpPr txBox="1"/>
          <p:nvPr/>
        </p:nvSpPr>
        <p:spPr>
          <a:xfrm>
            <a:off x="876300" y="4221400"/>
            <a:ext cx="304038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tr-TR" sz="1800" b="1" dirty="0" err="1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Detection</a:t>
            </a:r>
            <a:r>
              <a:rPr lang="tr-TR" sz="18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tr-TR" sz="1800" b="1" dirty="0" err="1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Accuracy</a:t>
            </a:r>
            <a:r>
              <a:rPr lang="tr-TR" sz="18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(</a:t>
            </a:r>
            <a:r>
              <a:rPr lang="tr-TR" sz="1800" b="1" dirty="0" err="1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mAP</a:t>
            </a:r>
            <a:r>
              <a:rPr lang="tr-TR" sz="18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):</a:t>
            </a:r>
            <a:endParaRPr lang="en-US" sz="18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" name="Google Shape;218;p21">
            <a:extLst>
              <a:ext uri="{FF2B5EF4-FFF2-40B4-BE49-F238E27FC236}">
                <a16:creationId xmlns:a16="http://schemas.microsoft.com/office/drawing/2014/main" id="{8B0F2079-B8B9-483D-ABA9-268F2072ABC7}"/>
              </a:ext>
            </a:extLst>
          </p:cNvPr>
          <p:cNvSpPr txBox="1"/>
          <p:nvPr/>
        </p:nvSpPr>
        <p:spPr>
          <a:xfrm>
            <a:off x="876300" y="4787556"/>
            <a:ext cx="28956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Standard object detection</a:t>
            </a:r>
          </a:p>
          <a:p>
            <a:pPr lvl="0">
              <a:lnSpc>
                <a:spcPct val="150000"/>
              </a:lnSpc>
            </a:pPr>
            <a:r>
              <a:rPr lang="en-US" sz="1500" dirty="0" err="1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mAP</a:t>
            </a:r>
            <a:r>
              <a:rPr lang="en-US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evaluated for both FP32 and INT8 versions of the</a:t>
            </a:r>
          </a:p>
          <a:p>
            <a:pPr lvl="0"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model.</a:t>
            </a:r>
            <a:endParaRPr lang="en-US" sz="1500" b="0" i="0" u="none" strike="noStrike" cap="none" dirty="0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" name="Google Shape;219;p21">
            <a:extLst>
              <a:ext uri="{FF2B5EF4-FFF2-40B4-BE49-F238E27FC236}">
                <a16:creationId xmlns:a16="http://schemas.microsoft.com/office/drawing/2014/main" id="{43FDEB32-CDBB-4B81-A1D0-5A7ED88CD854}"/>
              </a:ext>
            </a:extLst>
          </p:cNvPr>
          <p:cNvSpPr txBox="1"/>
          <p:nvPr/>
        </p:nvSpPr>
        <p:spPr>
          <a:xfrm>
            <a:off x="4575810" y="4245757"/>
            <a:ext cx="304038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tr-TR" sz="18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Memory/Transfer </a:t>
            </a:r>
            <a:r>
              <a:rPr lang="tr-TR" sz="1800" b="1" dirty="0" err="1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Efficiency</a:t>
            </a:r>
            <a:r>
              <a:rPr lang="tr-TR" sz="18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  <a:endParaRPr lang="en-US" sz="18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" name="Google Shape;220;p21">
            <a:extLst>
              <a:ext uri="{FF2B5EF4-FFF2-40B4-BE49-F238E27FC236}">
                <a16:creationId xmlns:a16="http://schemas.microsoft.com/office/drawing/2014/main" id="{3C4D60E3-85AF-49C3-AC1E-4B57A222EDC8}"/>
              </a:ext>
            </a:extLst>
          </p:cNvPr>
          <p:cNvSpPr txBox="1"/>
          <p:nvPr/>
        </p:nvSpPr>
        <p:spPr>
          <a:xfrm>
            <a:off x="4609148" y="4795980"/>
            <a:ext cx="28956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Evidence of reduced</a:t>
            </a:r>
          </a:p>
          <a:p>
            <a:pPr lvl="0"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costly DDR traffic or improved use of shared on-chip</a:t>
            </a:r>
          </a:p>
          <a:p>
            <a:pPr lvl="0"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memory where measurable.</a:t>
            </a:r>
            <a:endParaRPr lang="en-US" sz="1500" b="0" i="0" u="none" strike="noStrike" cap="none" dirty="0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84163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2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6"/>
          <p:cNvSpPr txBox="1"/>
          <p:nvPr/>
        </p:nvSpPr>
        <p:spPr>
          <a:xfrm>
            <a:off x="305276" y="2214562"/>
            <a:ext cx="11581447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Questions &amp; Discussion</a:t>
            </a:r>
          </a:p>
        </p:txBody>
      </p:sp>
      <p:sp>
        <p:nvSpPr>
          <p:cNvPr id="313" name="Google Shape;313;p26"/>
          <p:cNvSpPr txBox="1"/>
          <p:nvPr/>
        </p:nvSpPr>
        <p:spPr>
          <a:xfrm>
            <a:off x="581025" y="3138487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Thank you for your attention.</a:t>
            </a:r>
          </a:p>
        </p:txBody>
      </p:sp>
      <p:sp>
        <p:nvSpPr>
          <p:cNvPr id="314" name="Google Shape;314;p26"/>
          <p:cNvSpPr/>
          <p:nvPr/>
        </p:nvSpPr>
        <p:spPr>
          <a:xfrm>
            <a:off x="5381625" y="3900487"/>
            <a:ext cx="142875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581025" y="4243387"/>
            <a:ext cx="11029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Optimization of a Heterogeneous Edge AI Inference Pipeline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 Istanbul Technical University | Hacettepe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913</Words>
  <Application>Microsoft Office PowerPoint</Application>
  <PresentationFormat>Widescreen</PresentationFormat>
  <Paragraphs>166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Inter</vt:lpstr>
      <vt:lpstr>JetBrains Mono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YAVUZSELIMK</cp:lastModifiedBy>
  <cp:revision>14</cp:revision>
  <dcterms:created xsi:type="dcterms:W3CDTF">2026-04-14T20:41:32Z</dcterms:created>
  <dcterms:modified xsi:type="dcterms:W3CDTF">2026-04-16T06:27:09Z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E4FDD17B2A944F8F9B7FAAC26ABF6A46_12</vt:lpwstr>
  </property>
  <property fmtid="{D5CDD505-2E9C-101B-9397-08002B2CF9AE}" pid="3" name="KSOProductBuildVer">
    <vt:lpwstr>1033-12.1.0.25242</vt:lpwstr>
  </property>
</Properties>
</file>